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Problem Statement ID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26166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50">
                <a:solidFill>
                  <a:srgbClr val="41546F"/>
                </a:solidFill>
                <a:latin typeface="Calibri"/>
              </a:rPr>
              <a:t>•  </a:t>
            </a:r>
            <a:r>
              <a:rPr sz="1050" b="1">
                <a:solidFill>
                  <a:srgbClr val="12233D"/>
                </a:solidFill>
                <a:latin typeface="Calibri"/>
              </a:rPr>
              <a:t>Problem Statement Title – </a:t>
            </a:r>
            <a:r>
              <a:rPr sz="1050" b="0">
                <a:solidFill>
                  <a:srgbClr val="41546F"/>
                </a:solidFill>
                <a:latin typeface="Calibri"/>
              </a:rPr>
              <a:t>Multi-modal, Sun angle and scale invariant image correspondence using Chandrayaan-2 optical images (OHRC, TMC and IIRS)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Theme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Space Technology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PS Category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Software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Team ID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800C4B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Team Name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Bugs Janta Party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29184" y="5532120"/>
            <a:ext cx="6309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F3B73"/>
                </a:solidFill>
                <a:latin typeface="Calibri"/>
              </a:rPr>
              <a:t>SETU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0E7FBF"/>
                </a:solidFill>
                <a:latin typeface="Calibri"/>
              </a:rPr>
              <a:t>Geometry for scale and viewpoint. Physics for the Sun. Learning only for what is left.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F3B73"/>
                </a:solidFill>
                <a:latin typeface="Calibri"/>
              </a:rPr>
              <a:t>SETU: spend the geometry, remove the Sun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2" name="Picture 15361" descr="illumination_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115568"/>
            <a:ext cx="11201400" cy="3460975"/>
          </a:xfrm>
          <a:prstGeom prst="rect">
            <a:avLst/>
          </a:prstGeom>
        </p:spPr>
      </p:pic>
      <p:pic>
        <p:nvPicPr>
          <p:cNvPr id="15363" name="Picture 15362" descr="variation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114800"/>
            <a:ext cx="6675120" cy="1940623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7269480" y="4133087"/>
            <a:ext cx="4526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MEASURED ON 31 PAIRS WITH EXACT GROUND TRUTH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7269480" y="4480560"/>
            <a:ext cx="148132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F764B"/>
                </a:solidFill>
                <a:latin typeface="Calibri"/>
              </a:rPr>
              <a:t>0.361 px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tie-point RMSE vs truth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8787384" y="4480560"/>
            <a:ext cx="148132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F764B"/>
                </a:solidFill>
                <a:latin typeface="Calibri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matches within 3 px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10305288" y="4480560"/>
            <a:ext cx="148132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F764B"/>
                </a:solidFill>
                <a:latin typeface="Calibri"/>
              </a:rPr>
              <a:t>416×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better than SIFT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269480" y="5321808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19" b="1">
                <a:solidFill>
                  <a:srgbClr val="C2255C"/>
                </a:solidFill>
                <a:latin typeface="Calibri"/>
              </a:rPr>
              <a:t>Multi-modal, the hardest of the three. </a:t>
            </a:r>
            <a:r>
              <a:rPr sz="919" b="0">
                <a:solidFill>
                  <a:srgbClr val="41546F"/>
                </a:solidFill>
                <a:latin typeface="Calibri"/>
              </a:rPr>
              <a:t>On an IIRS-class sensor gap at a 4× scale ratio SETU reaches 0.70 px in the source frame (14 m on the ground). </a:t>
            </a:r>
            <a:r>
              <a:rPr sz="919" b="0">
                <a:solidFill>
                  <a:srgbClr val="41546F"/>
                </a:solidFill>
                <a:latin typeface="Calibri"/>
              </a:rPr>
              <a:t>It is the only method that registers these pairs at all: the best baseline is 311 px.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19" b="1">
                <a:solidFill>
                  <a:srgbClr val="12233D"/>
                </a:solidFill>
                <a:latin typeface="Calibri"/>
              </a:rPr>
              <a:t>Every match carries a 2×2 covariance</a:t>
            </a:r>
            <a:r>
              <a:rPr sz="919" b="0">
                <a:solidFill>
                  <a:srgbClr val="41546F"/>
                </a:solidFill>
                <a:latin typeface="Calibri"/>
              </a:rPr>
              <a:t>, which weights the fit and ships in the tie-point file.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42415"/>
            <a:ext cx="11292840" cy="3144429"/>
          </a:xfrm>
          <a:prstGeom prst="rect">
            <a:avLst/>
          </a:prstGeom>
        </p:spPr>
      </p:pic>
      <p:pic>
        <p:nvPicPr>
          <p:cNvPr id="17411" name="Picture 17410" descr="stack_chi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187952"/>
            <a:ext cx="5577840" cy="2044343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537960" y="4224528"/>
            <a:ext cx="5257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0E7FBF"/>
                </a:solidFill>
                <a:latin typeface="Calibri"/>
              </a:rPr>
              <a:t>THREE CHOICES THAT MATTER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Never upsample the coarser image. </a:t>
            </a:r>
            <a:r>
              <a:rPr sz="940" b="0">
                <a:solidFill>
                  <a:srgbClr val="41546F"/>
                </a:solidFill>
                <a:latin typeface="Calibri"/>
              </a:rPr>
              <a:t>Work at the coarser GSD, reach it by area-averaging.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Parallax is not optional off-nadir. </a:t>
            </a:r>
            <a:r>
              <a:rPr sz="940" b="0">
                <a:solidFill>
                  <a:srgbClr val="41546F"/>
                </a:solidFill>
                <a:latin typeface="Calibri"/>
              </a:rPr>
              <a:t>At 25° and 200 m of relief it is 373 OHRC pixels.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Harness built before the matcher. </a:t>
            </a:r>
            <a:r>
              <a:rPr sz="940" b="0">
                <a:solidFill>
                  <a:srgbClr val="41546F"/>
                </a:solidFill>
                <a:latin typeface="Calibri"/>
              </a:rPr>
              <a:t>No tuning decision was made against intuition.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024128"/>
            <a:ext cx="11384280" cy="1243584"/>
          </a:xfrm>
          <a:prstGeom prst="roundRect">
            <a:avLst>
              <a:gd name="adj" fmla="val 6000"/>
            </a:avLst>
          </a:prstGeom>
          <a:solidFill>
            <a:srgbClr val="FDECF1"/>
          </a:solidFill>
          <a:ln w="11430">
            <a:solidFill>
              <a:srgbClr val="C22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621792" y="10972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C2255C"/>
                </a:solidFill>
                <a:latin typeface="Calibri"/>
              </a:rPr>
              <a:t>AT AN 8× SCALE RATIO, SETU DECLINES RATHER THAN LIES</a:t>
            </a:r>
          </a:p>
        </p:txBody>
      </p:sp>
      <p:pic>
        <p:nvPicPr>
          <p:cNvPr id="17412" name="Picture 17411" descr="gate_vis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371600"/>
            <a:ext cx="11064240" cy="866074"/>
          </a:xfrm>
          <a:prstGeom prst="rect">
            <a:avLst/>
          </a:prstGeom>
        </p:spPr>
      </p:pic>
      <p:pic>
        <p:nvPicPr>
          <p:cNvPr id="17413" name="Picture 17412" descr="accuracy_b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359152"/>
            <a:ext cx="5715000" cy="2419459"/>
          </a:xfrm>
          <a:prstGeom prst="rect">
            <a:avLst/>
          </a:prstGeom>
        </p:spPr>
      </p:pic>
      <p:pic>
        <p:nvPicPr>
          <p:cNvPr id="17414" name="Picture 17413" descr="multimodal_ba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26864"/>
            <a:ext cx="5715000" cy="1736150"/>
          </a:xfrm>
          <a:prstGeom prst="rect">
            <a:avLst/>
          </a:prstGeom>
        </p:spPr>
      </p:pic>
      <p:pic>
        <p:nvPicPr>
          <p:cNvPr id="17415" name="Picture 17414" descr="risk_gr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2359152"/>
            <a:ext cx="5440680" cy="2613198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6355080" y="4937760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E7FBF"/>
                </a:solidFill>
                <a:latin typeface="Calibri"/>
              </a:rPr>
              <a:t>BUILT, NOT DESCRIBED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355080" y="5230368"/>
            <a:ext cx="17830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9 / 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stages, both edges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165592" y="5230368"/>
            <a:ext cx="17830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41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tests, green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9976104" y="5230368"/>
            <a:ext cx="17830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5.6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per pair, no GPU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355080" y="5943600"/>
            <a:ext cx="5440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860" b="1">
                <a:solidFill>
                  <a:srgbClr val="C2255C"/>
                </a:solidFill>
                <a:latin typeface="Calibri"/>
              </a:rPr>
              <a:t>Beyond the design target it declines again. </a:t>
            </a:r>
            <a:r>
              <a:rPr sz="860" b="0">
                <a:solidFill>
                  <a:srgbClr val="41546F"/>
                </a:solidFill>
                <a:latin typeface="Calibri"/>
              </a:rPr>
              <a:t>On thermal-regime bands, which the pseudo-pan window exists to avoid, every baseline returns garbage at 0% precision and SETU registers none of the 10 pairs.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0.361 px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tie-point RMSE vs exact truth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2697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matches within 3 px of truth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983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inlier ratio after MAGSAC++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7269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0.81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coverage, mean over 31 pairs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555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416×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better per point than SIFT</a:t>
            </a:r>
          </a:p>
        </p:txBody>
      </p:sp>
      <p:pic>
        <p:nvPicPr>
          <p:cNvPr id="17415" name="Picture 17414" descr="tiepoint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75104"/>
            <a:ext cx="3181136" cy="2871216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6263640" y="2103120"/>
            <a:ext cx="55321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0E7FBF"/>
                </a:solidFill>
                <a:latin typeface="Calibri"/>
              </a:rPr>
              <a:t>WHAT THIS BUYS ISRO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An archive that co-registers. </a:t>
            </a:r>
            <a:r>
              <a:rPr sz="940" b="0">
                <a:solidFill>
                  <a:srgbClr val="41546F"/>
                </a:solidFill>
                <a:latin typeface="Calibri"/>
              </a:rPr>
              <a:t>Kilometre-level geolocation is why OHRC, TMC-2 and IIRS are hard to combine.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A tie-point list that can be ingested. </a:t>
            </a:r>
            <a:r>
              <a:rPr sz="940" b="0">
                <a:solidFill>
                  <a:srgbClr val="41546F"/>
                </a:solidFill>
                <a:latin typeface="Calibri"/>
              </a:rPr>
              <a:t>Per-point covariance, so a bundle adjustment can weight it.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Pointing stability, for free. </a:t>
            </a:r>
            <a:r>
              <a:rPr sz="940" b="0">
                <a:solidFill>
                  <a:srgbClr val="41546F"/>
                </a:solidFill>
                <a:latin typeface="Calibri"/>
              </a:rPr>
              <a:t>The per-row jitter spline falls out of registration.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Generalises past the Moon. </a:t>
            </a:r>
            <a:r>
              <a:rPr sz="940" b="0">
                <a:solidFill>
                  <a:srgbClr val="41546F"/>
                </a:solidFill>
                <a:latin typeface="Calibri"/>
              </a:rPr>
              <a:t>Any airless body with a shape model has the same problem.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4937760"/>
            <a:ext cx="11384280" cy="1243584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 w="11430">
            <a:solidFill>
              <a:srgbClr val="0F7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065776"/>
            <a:ext cx="987552" cy="98755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1810512" y="5138928"/>
            <a:ext cx="9875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F764B"/>
                </a:solidFill>
                <a:latin typeface="Calibri"/>
              </a:rPr>
              <a:t>TRY IT LIVE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764B"/>
                </a:solidFill>
                <a:latin typeface="Calibri"/>
              </a:rPr>
              <a:t>https://arya-patil686.github.io/setu-sih2026/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1546F"/>
                </a:solidFill>
                <a:latin typeface="Calibri"/>
              </a:rPr>
              <a:t>Three registrations at increasing difficulty, the pipeline played stage by stage, tie points coloured by residual, and the full leaderboard.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69494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19" b="1" i="0">
                <a:solidFill>
                  <a:srgbClr val="0E7FBF"/>
                </a:solidFill>
                <a:latin typeface="Calibri"/>
              </a:rPr>
              <a:t>RESEARCH THIS BUILDS ON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He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MatchAnything, TPAMI 2026, arXiv:2501.07556. Track A weights.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Li, Hu, Ai. </a:t>
            </a:r>
            <a:r>
              <a:rPr sz="900" b="0">
                <a:solidFill>
                  <a:srgbClr val="41546F"/>
                </a:solidFill>
                <a:latin typeface="Calibri"/>
              </a:rPr>
              <a:t>RIFT, IEEE TIP 29:3296, 2020. Track B descriptor.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Ye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HOPC, IEEE TGRS 55(5) 2017; CFOG, ISPRS 2019.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Kovesi. </a:t>
            </a:r>
            <a:r>
              <a:rPr sz="900" b="0">
                <a:solidFill>
                  <a:srgbClr val="41546F"/>
                </a:solidFill>
                <a:latin typeface="Calibri"/>
              </a:rPr>
              <a:t>Image Features from Phase Congruency, 1999. Vendored.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Kumar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MoonMetaSync, arXiv:2410.11118, 2024. The lunar floor we beat.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Tungathurthi. </a:t>
            </a:r>
            <a:r>
              <a:rPr sz="900" b="0">
                <a:solidFill>
                  <a:srgbClr val="41546F"/>
                </a:solidFill>
                <a:latin typeface="Calibri"/>
              </a:rPr>
              <a:t>arXiv:2602.14993, 2026. Documents the 4 to 6 km OHRC error.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Barker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SLDEM2015, Icarus 273:346, 2016. The shape model.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Chowdhury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OHRC in-orbit performance, Current Science 118(4):560, 2020.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Verma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IIRS thermal emission correction, Icarus 383:115075, 2022.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Barath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MAGSAC++, CVPR 2020. With an adaptive threshold from our covariances.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</a:pPr>
            <a:r>
              <a:rPr sz="919" b="1" i="0">
                <a:solidFill>
                  <a:srgbClr val="0E7FBF"/>
                </a:solidFill>
                <a:latin typeface="Calibri"/>
              </a:rPr>
              <a:t>DATA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1546F"/>
                </a:solidFill>
                <a:latin typeface="Calibri"/>
              </a:rPr>
              <a:t>Chandrayaan-2 L1 via PRADAN  ·  LRO NAC and NAC DTMs via ODE  ·  SLDEM2015 at 512 ppd  ·  Kaguya TC via JAXA DARTS  ·  LROC WAC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7635240" y="1097280"/>
            <a:ext cx="4160520" cy="2788920"/>
          </a:xfrm>
          <a:prstGeom prst="roundRect">
            <a:avLst>
              <a:gd name="adj" fmla="val 6000"/>
            </a:avLst>
          </a:prstGeom>
          <a:solidFill>
            <a:srgbClr val="EEF6FC"/>
          </a:solidFill>
          <a:ln w="11430">
            <a:solidFill>
              <a:srgbClr val="0E7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2" name="Picture 17411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1298448"/>
            <a:ext cx="1234440" cy="1234440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7845552" y="2670048"/>
            <a:ext cx="374903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LIVE DEMO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40" b="1" i="0">
                <a:solidFill>
                  <a:srgbClr val="0E7FBF"/>
                </a:solidFill>
                <a:latin typeface="Calibri"/>
              </a:rPr>
              <a:t>https://arya-patil686.github.io/setu-sih2026/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41546F"/>
                </a:solidFill>
                <a:latin typeface="Calibri"/>
              </a:rPr>
              <a:t>https://github.com/Arya-Patil686/setu-sih2026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635240" y="4069080"/>
            <a:ext cx="4160520" cy="19659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1430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7845552" y="4206240"/>
            <a:ext cx="37490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860" b="1" i="0">
                <a:solidFill>
                  <a:srgbClr val="12233D"/>
                </a:solidFill>
                <a:latin typeface="Calibri"/>
              </a:rPr>
              <a:t>REPRODUCE EVERY NUMBER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python experiments/run_sweeps.py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python scripts/build_demo_bundle.py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41546F"/>
                </a:solidFill>
                <a:latin typeface="Calibri"/>
              </a:rPr>
              <a:t>Ground truth is exact by construction: both images of every pair are rendered from one terrain model under a known transform. Results are on that benchmark; the PDS4 and PDS3 readers and the SPICE path await archive access, not code.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