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05000"/>
              </a:lnSpc>
              <a:spcAft>
                <a:spcPts val="900"/>
              </a:spcAft>
            </a:pPr>
            <a:r>
              <a:rPr sz="1200">
                <a:solidFill>
                  <a:srgbClr val="41546F"/>
                </a:solidFill>
                <a:latin typeface="Calibri"/>
              </a:rPr>
              <a:t>•  </a:t>
            </a:r>
            <a:r>
              <a:rPr sz="1200" b="1">
                <a:solidFill>
                  <a:srgbClr val="12233D"/>
                </a:solidFill>
                <a:latin typeface="Calibri"/>
              </a:rPr>
              <a:t>Problem Statement ID – </a:t>
            </a:r>
            <a:r>
              <a:rPr sz="1200" b="0">
                <a:solidFill>
                  <a:srgbClr val="41546F"/>
                </a:solidFill>
                <a:latin typeface="Calibri"/>
              </a:rPr>
              <a:t>26166</a:t>
            </a:r>
          </a:p>
          <a:p>
            <a:pPr>
              <a:lnSpc>
                <a:spcPct val="105000"/>
              </a:lnSpc>
              <a:spcAft>
                <a:spcPts val="900"/>
              </a:spcAft>
            </a:pPr>
            <a:r>
              <a:rPr sz="1100">
                <a:solidFill>
                  <a:srgbClr val="41546F"/>
                </a:solidFill>
                <a:latin typeface="Calibri"/>
              </a:rPr>
              <a:t>•  </a:t>
            </a:r>
            <a:r>
              <a:rPr sz="1100" b="1">
                <a:solidFill>
                  <a:srgbClr val="12233D"/>
                </a:solidFill>
                <a:latin typeface="Calibri"/>
              </a:rPr>
              <a:t>Problem Statement Title – </a:t>
            </a:r>
            <a:r>
              <a:rPr sz="1100" b="0">
                <a:solidFill>
                  <a:srgbClr val="41546F"/>
                </a:solidFill>
                <a:latin typeface="Calibri"/>
              </a:rPr>
              <a:t>Sub-pixel correspondence between Chandrayaan-2 optical images and lunar reference images, robust to illumination, viewpoint and scale</a:t>
            </a:r>
          </a:p>
          <a:p>
            <a:pPr>
              <a:lnSpc>
                <a:spcPct val="105000"/>
              </a:lnSpc>
              <a:spcAft>
                <a:spcPts val="900"/>
              </a:spcAft>
            </a:pPr>
            <a:r>
              <a:rPr sz="1200">
                <a:solidFill>
                  <a:srgbClr val="41546F"/>
                </a:solidFill>
                <a:latin typeface="Calibri"/>
              </a:rPr>
              <a:t>•  </a:t>
            </a:r>
            <a:r>
              <a:rPr sz="1200" b="1">
                <a:solidFill>
                  <a:srgbClr val="12233D"/>
                </a:solidFill>
                <a:latin typeface="Calibri"/>
              </a:rPr>
              <a:t>Theme – </a:t>
            </a:r>
            <a:r>
              <a:rPr sz="1200" b="0">
                <a:solidFill>
                  <a:srgbClr val="41546F"/>
                </a:solidFill>
                <a:latin typeface="Calibri"/>
              </a:rPr>
              <a:t>Space Technology</a:t>
            </a:r>
          </a:p>
          <a:p>
            <a:pPr>
              <a:lnSpc>
                <a:spcPct val="105000"/>
              </a:lnSpc>
              <a:spcAft>
                <a:spcPts val="900"/>
              </a:spcAft>
            </a:pPr>
            <a:r>
              <a:rPr sz="1200">
                <a:solidFill>
                  <a:srgbClr val="41546F"/>
                </a:solidFill>
                <a:latin typeface="Calibri"/>
              </a:rPr>
              <a:t>•  </a:t>
            </a:r>
            <a:r>
              <a:rPr sz="1200" b="1">
                <a:solidFill>
                  <a:srgbClr val="12233D"/>
                </a:solidFill>
                <a:latin typeface="Calibri"/>
              </a:rPr>
              <a:t>PS Category – </a:t>
            </a:r>
            <a:r>
              <a:rPr sz="1200" b="0">
                <a:solidFill>
                  <a:srgbClr val="41546F"/>
                </a:solidFill>
                <a:latin typeface="Calibri"/>
              </a:rPr>
              <a:t>Software</a:t>
            </a:r>
          </a:p>
          <a:p>
            <a:pPr>
              <a:lnSpc>
                <a:spcPct val="105000"/>
              </a:lnSpc>
              <a:spcAft>
                <a:spcPts val="900"/>
              </a:spcAft>
            </a:pPr>
            <a:r>
              <a:rPr sz="1200">
                <a:solidFill>
                  <a:srgbClr val="41546F"/>
                </a:solidFill>
                <a:latin typeface="Calibri"/>
              </a:rPr>
              <a:t>•  </a:t>
            </a:r>
            <a:r>
              <a:rPr sz="1200" b="1">
                <a:solidFill>
                  <a:srgbClr val="12233D"/>
                </a:solidFill>
                <a:latin typeface="Calibri"/>
              </a:rPr>
              <a:t>Team ID – </a:t>
            </a:r>
            <a:r>
              <a:rPr sz="1200" b="0">
                <a:solidFill>
                  <a:srgbClr val="41546F"/>
                </a:solidFill>
                <a:latin typeface="Calibri"/>
              </a:rPr>
              <a:t>800C4B</a:t>
            </a:r>
          </a:p>
          <a:p>
            <a:pPr>
              <a:lnSpc>
                <a:spcPct val="105000"/>
              </a:lnSpc>
              <a:spcAft>
                <a:spcPts val="900"/>
              </a:spcAft>
            </a:pPr>
            <a:r>
              <a:rPr sz="1200">
                <a:solidFill>
                  <a:srgbClr val="41546F"/>
                </a:solidFill>
                <a:latin typeface="Calibri"/>
              </a:rPr>
              <a:t>•  </a:t>
            </a:r>
            <a:r>
              <a:rPr sz="1200" b="1">
                <a:solidFill>
                  <a:srgbClr val="12233D"/>
                </a:solidFill>
                <a:latin typeface="Calibri"/>
              </a:rPr>
              <a:t>Team Name – </a:t>
            </a:r>
            <a:r>
              <a:rPr sz="1200" b="0">
                <a:solidFill>
                  <a:srgbClr val="41546F"/>
                </a:solidFill>
                <a:latin typeface="Calibri"/>
              </a:rPr>
              <a:t>Bugs Janta Party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329184" y="5623560"/>
            <a:ext cx="6035040" cy="914400"/>
          </a:xfrm>
          <a:prstGeom prst="rect">
            <a:avLst/>
          </a:prstGeom>
          <a:noFill/>
        </p:spPr>
        <p:txBody>
          <a:bodyPr wrap="square" anchor="t" lIns="0" rIns="0" tIns="0" bIns="0">
            <a:spAutoFit/>
          </a:bodyPr>
          <a:lstStyle/>
          <a:p>
            <a:pPr algn="l">
              <a:lnSpc>
                <a:spcPct val="100000"/>
              </a:lnSpc>
              <a:spcBef>
                <a:spcPts val="0"/>
              </a:spcBef>
              <a:spcAft>
                <a:spcPts val="200"/>
              </a:spcAft>
            </a:pPr>
            <a:r>
              <a:rPr sz="2000" b="1" i="0">
                <a:solidFill>
                  <a:srgbClr val="1F3B73"/>
                </a:solidFill>
                <a:latin typeface="Calibri"/>
              </a:rPr>
              <a:t>SETU</a:t>
            </a:r>
          </a:p>
          <a:p>
            <a:pPr algn="l">
              <a:lnSpc>
                <a:spcPct val="100000"/>
              </a:lnSpc>
              <a:spcBef>
                <a:spcPts val="0"/>
              </a:spcBef>
              <a:spcAft>
                <a:spcPts val="400"/>
              </a:spcAft>
            </a:pPr>
            <a:r>
              <a:rPr sz="1150" b="0" i="1">
                <a:solidFill>
                  <a:srgbClr val="0E7FBF"/>
                </a:solidFill>
                <a:latin typeface="Calibri"/>
              </a:rPr>
              <a:t>Geometry for scale and viewpoint. Physics for the Sun. Learning only for what is left.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algn="ctr">
              <a:lnSpc>
                <a:spcPct val="100000"/>
              </a:lnSpc>
              <a:spcBef>
                <a:spcPts val="0"/>
              </a:spcBef>
              <a:spcAft>
                <a:spcPts val="400"/>
              </a:spcAft>
            </a:pPr>
            <a:r>
              <a:rPr sz="2100" b="1" i="0">
                <a:solidFill>
                  <a:srgbClr val="1F3B73"/>
                </a:solidFill>
                <a:latin typeface="Calibri"/>
              </a:rPr>
              <a:t>SETU: registration that spends the geometry and removes the Sun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lnSpc>
                <a:spcPct val="90000"/>
              </a:lnSpc>
              <a:spcBef>
                <a:spcPts val="0"/>
              </a:spcBef>
              <a:spcAft>
                <a:spcPts val="400"/>
              </a:spcAft>
            </a:pPr>
            <a:r>
              <a:rPr sz="850" b="1" i="0">
                <a:solidFill>
                  <a:srgbClr val="1F3B73"/>
                </a:solidFill>
                <a:latin typeface="Calibri"/>
              </a:rPr>
              <a:t>Bugs Janta Party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84048" y="1243584"/>
            <a:ext cx="5897880" cy="4937760"/>
          </a:xfrm>
          <a:prstGeom prst="rect">
            <a:avLst/>
          </a:prstGeom>
          <a:noFill/>
        </p:spPr>
        <p:txBody>
          <a:bodyPr wrap="square" anchor="t" lIns="0" rIns="0" tIns="0" bIns="0">
            <a:spAutoFit/>
          </a:bodyPr>
          <a:lstStyle/>
          <a:p>
            <a:pPr algn="l">
              <a:lnSpc>
                <a:spcPct val="100000"/>
              </a:lnSpc>
              <a:spcBef>
                <a:spcPts val="0"/>
              </a:spcBef>
              <a:spcAft>
                <a:spcPts val="700"/>
              </a:spcAft>
            </a:pPr>
            <a:r>
              <a:rPr sz="1050" b="1" i="0">
                <a:solidFill>
                  <a:srgbClr val="0E7FBF"/>
                </a:solidFill>
                <a:latin typeface="Calibri"/>
              </a:rPr>
              <a:t>PROPOSED SOLUTION</a:t>
            </a:r>
          </a:p>
          <a:p>
            <a:pPr algn="l">
              <a:lnSpc>
                <a:spcPct val="100000"/>
              </a:lnSpc>
              <a:spcBef>
                <a:spcPts val="0"/>
              </a:spcBef>
              <a:spcAft>
                <a:spcPts val="600"/>
              </a:spcAft>
            </a:pPr>
            <a:r>
              <a:rPr sz="1100" b="1" i="0">
                <a:solidFill>
                  <a:srgbClr val="12233D"/>
                </a:solidFill>
                <a:latin typeface="Calibri"/>
              </a:rPr>
              <a:t>PS 26166 names three variations. Two of them are not appearance problems.</a:t>
            </a:r>
          </a:p>
          <a:p>
            <a:pPr>
              <a:lnSpc>
                <a:spcPct val="102000"/>
              </a:lnSpc>
              <a:spcAft>
                <a:spcPts val="600"/>
              </a:spcAft>
            </a:pPr>
            <a:r>
              <a:rPr sz="1050">
                <a:solidFill>
                  <a:srgbClr val="41546F"/>
                </a:solidFill>
                <a:latin typeface="Calibri"/>
              </a:rPr>
              <a:t>•  </a:t>
            </a:r>
            <a:r>
              <a:rPr sz="1050" b="0">
                <a:solidFill>
                  <a:srgbClr val="12233D"/>
                </a:solidFill>
                <a:latin typeface="Calibri"/>
              </a:rPr>
              <a:t>Scale and viewpoint are geometry, </a:t>
            </a:r>
            <a:r>
              <a:rPr sz="1050" b="0">
                <a:solidFill>
                  <a:srgbClr val="41546F"/>
                </a:solidFill>
                <a:latin typeface="Calibri"/>
              </a:rPr>
              <a:t>and Chandrayaan-2 ships the geometry in every product. </a:t>
            </a:r>
            <a:r>
              <a:rPr sz="1050" b="0">
                <a:solidFill>
                  <a:srgbClr val="41546F"/>
                </a:solidFill>
                <a:latin typeface="Calibri"/>
              </a:rPr>
              <a:t>SETU ortho-projects both images onto one map projection at one ground sampling distance on SLDEM2015, which collapses ratios up to 160x and tens of degrees of viewpoint into a residual planar shift.</a:t>
            </a:r>
          </a:p>
          <a:p>
            <a:pPr>
              <a:lnSpc>
                <a:spcPct val="102000"/>
              </a:lnSpc>
              <a:spcAft>
                <a:spcPts val="600"/>
              </a:spcAft>
            </a:pPr>
            <a:r>
              <a:rPr sz="1050">
                <a:solidFill>
                  <a:srgbClr val="41546F"/>
                </a:solidFill>
                <a:latin typeface="Calibri"/>
              </a:rPr>
              <a:t>•  </a:t>
            </a:r>
            <a:r>
              <a:rPr sz="1050" b="0">
                <a:solidFill>
                  <a:srgbClr val="12233D"/>
                </a:solidFill>
                <a:latin typeface="Calibri"/>
              </a:rPr>
              <a:t>Illumination is real appearance, so we delete it. </a:t>
            </a:r>
            <a:r>
              <a:rPr sz="1050" b="0">
                <a:solidFill>
                  <a:srgbClr val="41546F"/>
                </a:solidFill>
                <a:latin typeface="Calibri"/>
              </a:rPr>
              <a:t>The reference is re-rendered from the terrain model under the source image's own solar azimuth, elevation and emission angle, using Lunar-Lambert reflectance with McEwen limb darkening and ray-cast shadows. Matching then happens between two images that agree about where the Sun is.</a:t>
            </a:r>
          </a:p>
          <a:p>
            <a:pPr>
              <a:lnSpc>
                <a:spcPct val="102000"/>
              </a:lnSpc>
              <a:spcAft>
                <a:spcPts val="900"/>
              </a:spcAft>
            </a:pPr>
            <a:r>
              <a:rPr sz="1050">
                <a:solidFill>
                  <a:srgbClr val="41546F"/>
                </a:solidFill>
                <a:latin typeface="Calibri"/>
              </a:rPr>
              <a:t>•  </a:t>
            </a:r>
            <a:r>
              <a:rPr sz="1050" b="0">
                <a:solidFill>
                  <a:srgbClr val="12233D"/>
                </a:solidFill>
                <a:latin typeface="Calibri"/>
              </a:rPr>
              <a:t>Whatever survives goes to two independent matchers. </a:t>
            </a:r>
            <a:r>
              <a:rPr sz="1050" b="0">
                <a:solidFill>
                  <a:srgbClr val="41546F"/>
                </a:solidFill>
                <a:latin typeface="Calibri"/>
              </a:rPr>
              <a:t>A pretrained cross-modality network and a phase-congruency structural matcher run separately. A correspondence is kept only when both agree within 2 px, or when one has a provably sharp correlation peak.</a:t>
            </a:r>
          </a:p>
          <a:p>
            <a:pPr algn="l">
              <a:lnSpc>
                <a:spcPct val="100000"/>
              </a:lnSpc>
              <a:spcBef>
                <a:spcPts val="300"/>
              </a:spcBef>
              <a:spcAft>
                <a:spcPts val="600"/>
              </a:spcAft>
            </a:pPr>
            <a:r>
              <a:rPr sz="1050" b="1" i="0">
                <a:solidFill>
                  <a:srgbClr val="0E7FBF"/>
                </a:solidFill>
                <a:latin typeface="Calibri"/>
              </a:rPr>
              <a:t>WHY THIS ADDRESSES THE PROBLEM</a:t>
            </a:r>
          </a:p>
          <a:p>
            <a:pPr>
              <a:lnSpc>
                <a:spcPct val="102000"/>
              </a:lnSpc>
              <a:spcAft>
                <a:spcPts val="600"/>
              </a:spcAft>
            </a:pPr>
            <a:r>
              <a:rPr sz="1050">
                <a:solidFill>
                  <a:srgbClr val="41546F"/>
                </a:solidFill>
                <a:latin typeface="Calibri"/>
              </a:rPr>
              <a:t>•  </a:t>
            </a:r>
            <a:r>
              <a:rPr sz="1050" b="0">
                <a:solidFill>
                  <a:srgbClr val="12233D"/>
                </a:solidFill>
                <a:latin typeface="Calibri"/>
              </a:rPr>
              <a:t>Chandrayaan-2 geolocation is out by kilometres </a:t>
            </a:r>
            <a:r>
              <a:rPr sz="1050" b="0">
                <a:solidFill>
                  <a:srgbClr val="41546F"/>
                </a:solidFill>
                <a:latin typeface="Calibri"/>
              </a:rPr>
              <a:t>(published OHRC reprocessing puts SPICE positions about 4 km from truth), while the requirement is sub-pixel. Geometry closes the kilometres. Physics closes the illumination. Learning is left only with the residual.</a:t>
            </a:r>
          </a:p>
          <a:p>
            <a:pPr>
              <a:lnSpc>
                <a:spcPct val="102000"/>
              </a:lnSpc>
              <a:spcAft>
                <a:spcPts val="600"/>
              </a:spcAft>
            </a:pPr>
            <a:r>
              <a:rPr sz="1050">
                <a:solidFill>
                  <a:srgbClr val="41546F"/>
                </a:solidFill>
                <a:latin typeface="Calibri"/>
              </a:rPr>
              <a:t>•  </a:t>
            </a:r>
            <a:r>
              <a:rPr sz="1050" b="0">
                <a:solidFill>
                  <a:srgbClr val="12233D"/>
                </a:solidFill>
                <a:latin typeface="Calibri"/>
              </a:rPr>
              <a:t>Uniformity is an objective, not a by-product. </a:t>
            </a:r>
            <a:r>
              <a:rPr sz="1050" b="0">
                <a:solidFill>
                  <a:srgbClr val="41546F"/>
                </a:solidFill>
                <a:latin typeface="Calibri"/>
              </a:rPr>
              <a:t>Points are quota'd over a lattice on the true overlap, spread inside each cell by farthest-point selection, and empty cells are re-searched against the model once it is known.</a:t>
            </a:r>
          </a:p>
          <a:p>
            <a:pPr>
              <a:lnSpc>
                <a:spcPct val="102000"/>
              </a:lnSpc>
              <a:spcAft>
                <a:spcPts val="0"/>
              </a:spcAft>
            </a:pPr>
            <a:r>
              <a:rPr sz="1050">
                <a:solidFill>
                  <a:srgbClr val="41546F"/>
                </a:solidFill>
                <a:latin typeface="Calibri"/>
              </a:rPr>
              <a:t>•  </a:t>
            </a:r>
            <a:r>
              <a:rPr sz="1050" b="0">
                <a:solidFill>
                  <a:srgbClr val="12233D"/>
                </a:solidFill>
                <a:latin typeface="Calibri"/>
              </a:rPr>
              <a:t>Every tie point carries a 2x2 covariance </a:t>
            </a:r>
            <a:r>
              <a:rPr sz="1050" b="0">
                <a:solidFill>
                  <a:srgbClr val="41546F"/>
                </a:solidFill>
                <a:latin typeface="Calibri"/>
              </a:rPr>
              <a:t>that weights the robust fit, sets the outlier threshold, and is written into the output file. That is what makes a match list ingestible.</a:t>
            </a:r>
          </a:p>
        </p:txBody>
      </p:sp>
      <p:sp>
        <p:nvSpPr>
          <p:cNvPr id="15363" name="Rounded Rectangle 15362"/>
          <p:cNvSpPr/>
          <p:nvPr/>
        </p:nvSpPr>
        <p:spPr>
          <a:xfrm>
            <a:off x="6446520" y="1243584"/>
            <a:ext cx="5394960" cy="1481328"/>
          </a:xfrm>
          <a:prstGeom prst="roundRect">
            <a:avLst>
              <a:gd name="adj" fmla="val 6000"/>
            </a:avLst>
          </a:prstGeom>
          <a:solidFill>
            <a:srgbClr val="FDECF1"/>
          </a:solidFill>
          <a:ln w="11430">
            <a:solidFill>
              <a:srgbClr val="C225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4" name="TextBox 15363"/>
          <p:cNvSpPr txBox="1"/>
          <p:nvPr/>
        </p:nvSpPr>
        <p:spPr>
          <a:xfrm>
            <a:off x="6656832" y="1371600"/>
            <a:ext cx="4983480" cy="128016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C2255C"/>
                </a:solidFill>
                <a:latin typeface="Calibri"/>
              </a:rPr>
              <a:t>WHAT MAKES IT HARD, MEASURED</a:t>
            </a:r>
          </a:p>
          <a:p>
            <a:pPr>
              <a:lnSpc>
                <a:spcPct val="102000"/>
              </a:lnSpc>
              <a:spcAft>
                <a:spcPts val="300"/>
              </a:spcAft>
            </a:pPr>
            <a:r>
              <a:rPr sz="1050" b="0">
                <a:solidFill>
                  <a:srgbClr val="12233D"/>
                </a:solidFill>
                <a:latin typeface="Calibri"/>
              </a:rPr>
              <a:t>Same crater field, same viewpoint, Sun moved from east to west. Correlation between the two images: </a:t>
            </a:r>
            <a:r>
              <a:rPr sz="1050" b="1">
                <a:solidFill>
                  <a:srgbClr val="C2255C"/>
                </a:solidFill>
                <a:latin typeface="Calibri"/>
              </a:rPr>
              <a:t>-0.936</a:t>
            </a:r>
            <a:r>
              <a:rPr sz="1050" b="0">
                <a:solidFill>
                  <a:srgbClr val="12233D"/>
                </a:solidFill>
                <a:latin typeface="Calibri"/>
              </a:rPr>
              <a:t>.</a:t>
            </a:r>
          </a:p>
          <a:p>
            <a:pPr algn="l">
              <a:lnSpc>
                <a:spcPct val="102000"/>
              </a:lnSpc>
              <a:spcBef>
                <a:spcPts val="0"/>
              </a:spcBef>
              <a:spcAft>
                <a:spcPts val="0"/>
              </a:spcAft>
            </a:pPr>
            <a:r>
              <a:rPr sz="950" b="0" i="0">
                <a:solidFill>
                  <a:srgbClr val="41546F"/>
                </a:solidFill>
                <a:latin typeface="Calibri"/>
              </a:rPr>
              <a:t>Not weakly correlated. Inverted. Every gradient a descriptor keys on has changed sign, which is why SIFT, ORB and a MegaDepth-trained network fail here rather than degrade.</a:t>
            </a:r>
          </a:p>
        </p:txBody>
      </p:sp>
      <p:sp>
        <p:nvSpPr>
          <p:cNvPr id="15365" name="Rounded Rectangle 15364"/>
          <p:cNvSpPr/>
          <p:nvPr/>
        </p:nvSpPr>
        <p:spPr>
          <a:xfrm>
            <a:off x="6446520" y="2852928"/>
            <a:ext cx="5394960" cy="2999232"/>
          </a:xfrm>
          <a:prstGeom prst="roundRect">
            <a:avLst>
              <a:gd name="adj" fmla="val 6000"/>
            </a:avLst>
          </a:prstGeom>
          <a:solidFill>
            <a:srgbClr val="ECF7F2"/>
          </a:solidFill>
          <a:ln w="11430">
            <a:solidFill>
              <a:srgbClr val="0F76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6" name="TextBox 15365"/>
          <p:cNvSpPr txBox="1"/>
          <p:nvPr/>
        </p:nvSpPr>
        <p:spPr>
          <a:xfrm>
            <a:off x="6656832" y="2980944"/>
            <a:ext cx="4983480" cy="2788920"/>
          </a:xfrm>
          <a:prstGeom prst="rect">
            <a:avLst/>
          </a:prstGeom>
          <a:noFill/>
        </p:spPr>
        <p:txBody>
          <a:bodyPr wrap="square" anchor="t" lIns="0" rIns="0" tIns="0" bIns="0">
            <a:spAutoFit/>
          </a:bodyPr>
          <a:lstStyle/>
          <a:p>
            <a:pPr algn="l">
              <a:lnSpc>
                <a:spcPct val="100000"/>
              </a:lnSpc>
              <a:spcBef>
                <a:spcPts val="0"/>
              </a:spcBef>
              <a:spcAft>
                <a:spcPts val="600"/>
              </a:spcAft>
            </a:pPr>
            <a:r>
              <a:rPr sz="950" b="1" i="0">
                <a:solidFill>
                  <a:srgbClr val="0F764B"/>
                </a:solidFill>
                <a:latin typeface="Calibri"/>
              </a:rPr>
              <a:t>WHAT SETU DOES ABOUT IT</a:t>
            </a:r>
          </a:p>
          <a:p>
            <a:pPr>
              <a:lnSpc>
                <a:spcPct val="102000"/>
              </a:lnSpc>
              <a:spcAft>
                <a:spcPts val="700"/>
              </a:spcAft>
            </a:pPr>
            <a:r>
              <a:rPr sz="1050" b="0">
                <a:solidFill>
                  <a:srgbClr val="12233D"/>
                </a:solidFill>
                <a:latin typeface="Calibri"/>
              </a:rPr>
              <a:t>Re-illuminate the reference and that same pair correlates at </a:t>
            </a:r>
            <a:r>
              <a:rPr sz="1050" b="1">
                <a:solidFill>
                  <a:srgbClr val="0F764B"/>
                </a:solidFill>
                <a:latin typeface="Calibri"/>
              </a:rPr>
              <a:t>+0.970</a:t>
            </a:r>
            <a:r>
              <a:rPr sz="1050" b="0">
                <a:solidFill>
                  <a:srgbClr val="12233D"/>
                </a:solidFill>
                <a:latin typeface="Calibri"/>
              </a:rPr>
              <a:t>.</a:t>
            </a:r>
          </a:p>
          <a:p>
            <a:pPr>
              <a:lnSpc>
                <a:spcPct val="100000"/>
              </a:lnSpc>
              <a:spcAft>
                <a:spcPts val="400"/>
              </a:spcAft>
            </a:pPr>
            <a:r>
              <a:rPr sz="1000" b="0">
                <a:solidFill>
                  <a:srgbClr val="41546F"/>
                </a:solidFill>
                <a:latin typeface="Calibri"/>
              </a:rPr>
              <a:t>Tie-point RMSE against exact truth:  </a:t>
            </a:r>
            <a:r>
              <a:rPr sz="1000" b="1">
                <a:solidFill>
                  <a:srgbClr val="0F764B"/>
                </a:solidFill>
                <a:latin typeface="Calibri"/>
              </a:rPr>
              <a:t>0.361 px</a:t>
            </a:r>
          </a:p>
          <a:p>
            <a:pPr>
              <a:lnSpc>
                <a:spcPct val="100000"/>
              </a:lnSpc>
              <a:spcAft>
                <a:spcPts val="400"/>
              </a:spcAft>
            </a:pPr>
            <a:r>
              <a:rPr sz="1000" b="0">
                <a:solidFill>
                  <a:srgbClr val="41546F"/>
                </a:solidFill>
                <a:latin typeface="Calibri"/>
              </a:rPr>
              <a:t>SIFT, on the same pairs:  </a:t>
            </a:r>
            <a:r>
              <a:rPr sz="1000" b="1">
                <a:solidFill>
                  <a:srgbClr val="41546F"/>
                </a:solidFill>
                <a:latin typeface="Calibri"/>
              </a:rPr>
              <a:t>150.1 px</a:t>
            </a:r>
          </a:p>
          <a:p>
            <a:pPr>
              <a:lnSpc>
                <a:spcPct val="100000"/>
              </a:lnSpc>
              <a:spcAft>
                <a:spcPts val="400"/>
              </a:spcAft>
            </a:pPr>
            <a:r>
              <a:rPr sz="1000" b="0">
                <a:solidFill>
                  <a:srgbClr val="41546F"/>
                </a:solidFill>
                <a:latin typeface="Calibri"/>
              </a:rPr>
              <a:t>LoFTR, on the same pairs:  </a:t>
            </a:r>
            <a:r>
              <a:rPr sz="1000" b="1">
                <a:solidFill>
                  <a:srgbClr val="41546F"/>
                </a:solidFill>
                <a:latin typeface="Calibri"/>
              </a:rPr>
              <a:t>10.25 px</a:t>
            </a:r>
          </a:p>
          <a:p>
            <a:pPr>
              <a:lnSpc>
                <a:spcPct val="100000"/>
              </a:lnSpc>
              <a:spcAft>
                <a:spcPts val="400"/>
              </a:spcAft>
            </a:pPr>
            <a:r>
              <a:rPr sz="1000" b="0">
                <a:solidFill>
                  <a:srgbClr val="41546F"/>
                </a:solidFill>
                <a:latin typeface="Calibri"/>
              </a:rPr>
              <a:t>Correspondences within 3 px of truth:  </a:t>
            </a:r>
            <a:r>
              <a:rPr sz="1000" b="1">
                <a:solidFill>
                  <a:srgbClr val="0F764B"/>
                </a:solidFill>
                <a:latin typeface="Calibri"/>
              </a:rPr>
              <a:t>100.0%</a:t>
            </a:r>
          </a:p>
          <a:p>
            <a:pPr>
              <a:lnSpc>
                <a:spcPct val="100000"/>
              </a:lnSpc>
              <a:spcAft>
                <a:spcPts val="400"/>
              </a:spcAft>
            </a:pPr>
            <a:r>
              <a:rPr sz="1000" b="0">
                <a:solidFill>
                  <a:srgbClr val="41546F"/>
                </a:solidFill>
                <a:latin typeface="Calibri"/>
              </a:rPr>
              <a:t>Inlier ratio after MAGSAC++:  </a:t>
            </a:r>
            <a:r>
              <a:rPr sz="1000" b="1">
                <a:solidFill>
                  <a:srgbClr val="0F764B"/>
                </a:solidFill>
                <a:latin typeface="Calibri"/>
              </a:rPr>
              <a:t>100.0%</a:t>
            </a:r>
          </a:p>
          <a:p>
            <a:pPr>
              <a:lnSpc>
                <a:spcPct val="100000"/>
              </a:lnSpc>
              <a:spcAft>
                <a:spcPts val="400"/>
              </a:spcAft>
            </a:pPr>
            <a:r>
              <a:rPr sz="1000" b="0">
                <a:solidFill>
                  <a:srgbClr val="41546F"/>
                </a:solidFill>
                <a:latin typeface="Calibri"/>
              </a:rPr>
              <a:t>Lattice coverage at 150 points:  </a:t>
            </a:r>
            <a:r>
              <a:rPr sz="1000" b="1">
                <a:solidFill>
                  <a:srgbClr val="0F764B"/>
                </a:solidFill>
                <a:latin typeface="Calibri"/>
              </a:rPr>
              <a:t>0.81</a:t>
            </a:r>
          </a:p>
          <a:p>
            <a:pPr>
              <a:lnSpc>
                <a:spcPct val="100000"/>
              </a:lnSpc>
              <a:spcAft>
                <a:spcPts val="400"/>
              </a:spcAft>
            </a:pPr>
            <a:r>
              <a:rPr sz="1000" b="0">
                <a:solidFill>
                  <a:srgbClr val="41546F"/>
                </a:solidFill>
                <a:latin typeface="Calibri"/>
              </a:rPr>
              <a:t>LoFTR coverage at the same count:  </a:t>
            </a:r>
            <a:r>
              <a:rPr sz="1000" b="1">
                <a:solidFill>
                  <a:srgbClr val="41546F"/>
                </a:solidFill>
                <a:latin typeface="Calibri"/>
              </a:rPr>
              <a:t>0.40</a:t>
            </a:r>
          </a:p>
          <a:p>
            <a:pPr algn="l">
              <a:lnSpc>
                <a:spcPct val="100000"/>
              </a:lnSpc>
              <a:spcBef>
                <a:spcPts val="500"/>
              </a:spcBef>
              <a:spcAft>
                <a:spcPts val="0"/>
              </a:spcAft>
            </a:pPr>
            <a:r>
              <a:rPr sz="850" b="0" i="1">
                <a:solidFill>
                  <a:srgbClr val="41546F"/>
                </a:solidFill>
                <a:latin typeface="Calibri"/>
              </a:rPr>
              <a:t>Measured over 31 benchmark pairs whose true geometric relationship is known exactly, not fitted.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lnSpc>
                <a:spcPct val="90000"/>
              </a:lnSpc>
              <a:spcBef>
                <a:spcPts val="0"/>
              </a:spcBef>
              <a:spcAft>
                <a:spcPts val="400"/>
              </a:spcAft>
            </a:pPr>
            <a:r>
              <a:rPr sz="850" b="1" i="0">
                <a:solidFill>
                  <a:srgbClr val="1F3B73"/>
                </a:solidFill>
                <a:latin typeface="Calibri"/>
              </a:rPr>
              <a:t>Bugs Janta Party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84048" y="1115568"/>
            <a:ext cx="5212080" cy="1810512"/>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TECHNOLOGIES</a:t>
            </a:r>
          </a:p>
          <a:p>
            <a:pPr>
              <a:lnSpc>
                <a:spcPct val="98000"/>
              </a:lnSpc>
              <a:spcAft>
                <a:spcPts val="260"/>
              </a:spcAft>
            </a:pPr>
            <a:r>
              <a:rPr sz="850" b="1">
                <a:solidFill>
                  <a:srgbClr val="12233D"/>
                </a:solidFill>
                <a:latin typeface="Calibri"/>
              </a:rPr>
              <a:t>Language and arrays:  </a:t>
            </a:r>
            <a:r>
              <a:rPr sz="850" b="0">
                <a:solidFill>
                  <a:srgbClr val="41546F"/>
                </a:solidFill>
                <a:latin typeface="Calibri"/>
              </a:rPr>
              <a:t>Python 3.11, NumPy, SciPy</a:t>
            </a:r>
          </a:p>
          <a:p>
            <a:pPr>
              <a:lnSpc>
                <a:spcPct val="98000"/>
              </a:lnSpc>
              <a:spcAft>
                <a:spcPts val="260"/>
              </a:spcAft>
            </a:pPr>
            <a:r>
              <a:rPr sz="850" b="1">
                <a:solidFill>
                  <a:srgbClr val="12233D"/>
                </a:solidFill>
                <a:latin typeface="Calibri"/>
              </a:rPr>
              <a:t>Raster and geodesy:  </a:t>
            </a:r>
            <a:r>
              <a:rPr sz="850" b="0">
                <a:solidFill>
                  <a:srgbClr val="41546F"/>
                </a:solidFill>
                <a:latin typeface="Calibri"/>
              </a:rPr>
              <a:t>rasterio, GDAL, pyproj, shapely, lunar CRS on R = 1,737,400 m</a:t>
            </a:r>
          </a:p>
          <a:p>
            <a:pPr>
              <a:lnSpc>
                <a:spcPct val="98000"/>
              </a:lnSpc>
              <a:spcAft>
                <a:spcPts val="260"/>
              </a:spcAft>
            </a:pPr>
            <a:r>
              <a:rPr sz="850" b="1">
                <a:solidFill>
                  <a:srgbClr val="12233D"/>
                </a:solidFill>
                <a:latin typeface="Calibri"/>
              </a:rPr>
              <a:t>Planetary I/O:  </a:t>
            </a:r>
            <a:r>
              <a:rPr sz="850" b="0">
                <a:solidFill>
                  <a:srgbClr val="41546F"/>
                </a:solidFill>
                <a:latin typeface="Calibri"/>
              </a:rPr>
              <a:t>pds4_tools, pvl, spiceypy, PDS4 and PDS3 readers, windowed access</a:t>
            </a:r>
          </a:p>
          <a:p>
            <a:pPr>
              <a:lnSpc>
                <a:spcPct val="98000"/>
              </a:lnSpc>
              <a:spcAft>
                <a:spcPts val="260"/>
              </a:spcAft>
            </a:pPr>
            <a:r>
              <a:rPr sz="850" b="1">
                <a:solidFill>
                  <a:srgbClr val="12233D"/>
                </a:solidFill>
                <a:latin typeface="Calibri"/>
              </a:rPr>
              <a:t>Classical vision:  </a:t>
            </a:r>
            <a:r>
              <a:rPr sz="850" b="0">
                <a:solidFill>
                  <a:srgbClr val="41546F"/>
                </a:solidFill>
                <a:latin typeface="Calibri"/>
              </a:rPr>
              <a:t>OpenCV with USAC_MAGSAC, scikit-image</a:t>
            </a:r>
          </a:p>
          <a:p>
            <a:pPr>
              <a:lnSpc>
                <a:spcPct val="98000"/>
              </a:lnSpc>
              <a:spcAft>
                <a:spcPts val="260"/>
              </a:spcAft>
            </a:pPr>
            <a:r>
              <a:rPr sz="850" b="1">
                <a:solidFill>
                  <a:srgbClr val="12233D"/>
                </a:solidFill>
                <a:latin typeface="Calibri"/>
              </a:rPr>
              <a:t>Structural features:  </a:t>
            </a:r>
            <a:r>
              <a:rPr sz="850" b="0">
                <a:solidFill>
                  <a:srgbClr val="41546F"/>
                </a:solidFill>
                <a:latin typeface="Calibri"/>
              </a:rPr>
              <a:t>vendored Kovesi phase congruency, MIM, CFOG, LNIFT in NumPy and FFT</a:t>
            </a:r>
          </a:p>
          <a:p>
            <a:pPr>
              <a:lnSpc>
                <a:spcPct val="98000"/>
              </a:lnSpc>
              <a:spcAft>
                <a:spcPts val="260"/>
              </a:spcAft>
            </a:pPr>
            <a:r>
              <a:rPr sz="850" b="1">
                <a:solidFill>
                  <a:srgbClr val="12233D"/>
                </a:solidFill>
                <a:latin typeface="Calibri"/>
              </a:rPr>
              <a:t>Deep matching:  </a:t>
            </a:r>
            <a:r>
              <a:rPr sz="850" b="0">
                <a:solidFill>
                  <a:srgbClr val="41546F"/>
                </a:solidFill>
                <a:latin typeface="Calibri"/>
              </a:rPr>
              <a:t>PyTorch, kornia; MatchAnything, LoFTR, LightGlue, XFeat behind one adapter</a:t>
            </a:r>
          </a:p>
          <a:p>
            <a:pPr>
              <a:lnSpc>
                <a:spcPct val="98000"/>
              </a:lnSpc>
              <a:spcAft>
                <a:spcPts val="260"/>
              </a:spcAft>
            </a:pPr>
            <a:r>
              <a:rPr sz="850" b="1">
                <a:solidFill>
                  <a:srgbClr val="12233D"/>
                </a:solidFill>
                <a:latin typeface="Calibri"/>
              </a:rPr>
              <a:t>Service and demo:  </a:t>
            </a:r>
            <a:r>
              <a:rPr sz="850" b="0">
                <a:solidFill>
                  <a:srgbClr val="41546F"/>
                </a:solidFill>
                <a:latin typeface="Calibri"/>
              </a:rPr>
              <a:t>FastAPI, uvicorn, React, Vite, TypeScript, GSAP</a:t>
            </a:r>
          </a:p>
          <a:p>
            <a:pPr>
              <a:lnSpc>
                <a:spcPct val="98000"/>
              </a:lnSpc>
              <a:spcAft>
                <a:spcPts val="260"/>
              </a:spcAft>
            </a:pPr>
            <a:r>
              <a:rPr sz="850" b="1">
                <a:solidFill>
                  <a:srgbClr val="12233D"/>
                </a:solidFill>
                <a:latin typeface="Calibri"/>
              </a:rPr>
              <a:t>Packaging:  </a:t>
            </a:r>
            <a:r>
              <a:rPr sz="850" b="0">
                <a:solidFill>
                  <a:srgbClr val="41546F"/>
                </a:solidFill>
                <a:latin typeface="Calibri"/>
              </a:rPr>
              <a:t>Docker image, GitHub Actions running lint, tests and an end-to-end pair</a:t>
            </a:r>
          </a:p>
        </p:txBody>
      </p:sp>
      <p:sp>
        <p:nvSpPr>
          <p:cNvPr id="17411" name="TextBox 17410"/>
          <p:cNvSpPr txBox="1"/>
          <p:nvPr/>
        </p:nvSpPr>
        <p:spPr>
          <a:xfrm>
            <a:off x="5870448" y="1115568"/>
            <a:ext cx="5943600" cy="1810512"/>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METHODOLOGY</a:t>
            </a:r>
          </a:p>
          <a:p>
            <a:pPr>
              <a:lnSpc>
                <a:spcPct val="98000"/>
              </a:lnSpc>
              <a:spcAft>
                <a:spcPts val="340"/>
              </a:spcAft>
            </a:pPr>
            <a:r>
              <a:rPr sz="850">
                <a:solidFill>
                  <a:srgbClr val="41546F"/>
                </a:solidFill>
                <a:latin typeface="Calibri"/>
              </a:rPr>
              <a:t>•  </a:t>
            </a:r>
            <a:r>
              <a:rPr sz="850" b="1">
                <a:solidFill>
                  <a:srgbClr val="12233D"/>
                </a:solidFill>
                <a:latin typeface="Calibri"/>
              </a:rPr>
              <a:t>Spend the geometry first. </a:t>
            </a:r>
            <a:r>
              <a:rPr sz="850" b="0">
                <a:solidFill>
                  <a:srgbClr val="41546F"/>
                </a:solidFill>
                <a:latin typeface="Calibri"/>
              </a:rPr>
              <a:t>Choose the working CRS from the footprint, work at the coarser of the two GSDs, and never upsample the coarser image to meet the finer one. Off-nadir imagery gets an explicit terrain-parallax correction, which at 25 degrees and 200 m of relief is 373 OHRC pixels.</a:t>
            </a:r>
          </a:p>
          <a:p>
            <a:pPr>
              <a:lnSpc>
                <a:spcPct val="98000"/>
              </a:lnSpc>
              <a:spcAft>
                <a:spcPts val="340"/>
              </a:spcAft>
            </a:pPr>
            <a:r>
              <a:rPr sz="850">
                <a:solidFill>
                  <a:srgbClr val="41546F"/>
                </a:solidFill>
                <a:latin typeface="Calibri"/>
              </a:rPr>
              <a:t>•  </a:t>
            </a:r>
            <a:r>
              <a:rPr sz="850" b="1">
                <a:solidFill>
                  <a:srgbClr val="12233D"/>
                </a:solidFill>
                <a:latin typeface="Calibri"/>
              </a:rPr>
              <a:t>Then remove the Sun. </a:t>
            </a:r>
            <a:r>
              <a:rPr sz="850" b="0">
                <a:solidFill>
                  <a:srgbClr val="41546F"/>
                </a:solidFill>
                <a:latin typeface="Calibri"/>
              </a:rPr>
              <a:t>Render the reference at the source's solar geometry. Shadows come from a horizon sweep along the sun azimuth, which is O(N) per azimuth and needs no mesh library.</a:t>
            </a:r>
          </a:p>
          <a:p>
            <a:pPr>
              <a:lnSpc>
                <a:spcPct val="98000"/>
              </a:lnSpc>
              <a:spcAft>
                <a:spcPts val="340"/>
              </a:spcAft>
            </a:pPr>
            <a:r>
              <a:rPr sz="850">
                <a:solidFill>
                  <a:srgbClr val="41546F"/>
                </a:solidFill>
                <a:latin typeface="Calibri"/>
              </a:rPr>
              <a:t>•  </a:t>
            </a:r>
            <a:r>
              <a:rPr sz="850" b="1">
                <a:solidFill>
                  <a:srgbClr val="12233D"/>
                </a:solidFill>
                <a:latin typeface="Calibri"/>
              </a:rPr>
              <a:t>Then match, twice, and gate. </a:t>
            </a:r>
            <a:r>
              <a:rPr sz="850" b="0">
                <a:solidFill>
                  <a:srgbClr val="41546F"/>
                </a:solidFill>
                <a:latin typeface="Calibri"/>
              </a:rPr>
              <a:t>Track A is a pretrained cross-modality network on the harmonised imagery. Track B is phase-congruency detection with maximum-index-map description and CFOG template refinement, on the structural maps.</a:t>
            </a:r>
          </a:p>
          <a:p>
            <a:pPr>
              <a:lnSpc>
                <a:spcPct val="98000"/>
              </a:lnSpc>
              <a:spcAft>
                <a:spcPts val="340"/>
              </a:spcAft>
            </a:pPr>
            <a:r>
              <a:rPr sz="850">
                <a:solidFill>
                  <a:srgbClr val="41546F"/>
                </a:solidFill>
                <a:latin typeface="Calibri"/>
              </a:rPr>
              <a:t>•  </a:t>
            </a:r>
            <a:r>
              <a:rPr sz="850" b="1">
                <a:solidFill>
                  <a:srgbClr val="12233D"/>
                </a:solidFill>
                <a:latin typeface="Calibri"/>
              </a:rPr>
              <a:t>Then measure everything. </a:t>
            </a:r>
            <a:r>
              <a:rPr sz="850" b="0">
                <a:solidFill>
                  <a:srgbClr val="41546F"/>
                </a:solidFill>
                <a:latin typeface="Calibri"/>
              </a:rPr>
              <a:t>The harness was built before the matcher, so no tuning decision was made against intuition.</a:t>
            </a:r>
          </a:p>
        </p:txBody>
      </p:sp>
      <p:pic>
        <p:nvPicPr>
          <p:cNvPr id="17412" name="Picture 17411" descr="pipeline.png"/>
          <p:cNvPicPr>
            <a:picLocks noChangeAspect="1"/>
          </p:cNvPicPr>
          <p:nvPr/>
        </p:nvPicPr>
        <p:blipFill>
          <a:blip r:embed="rId4"/>
          <a:stretch>
            <a:fillRect/>
          </a:stretch>
        </p:blipFill>
        <p:spPr>
          <a:xfrm>
            <a:off x="1188720" y="3017520"/>
            <a:ext cx="9784080" cy="2887662"/>
          </a:xfrm>
          <a:prstGeom prst="rect">
            <a:avLst/>
          </a:prstGeom>
        </p:spPr>
      </p:pic>
      <p:sp>
        <p:nvSpPr>
          <p:cNvPr id="17413" name="TextBox 17412"/>
          <p:cNvSpPr txBox="1"/>
          <p:nvPr/>
        </p:nvSpPr>
        <p:spPr>
          <a:xfrm>
            <a:off x="384048" y="5797296"/>
            <a:ext cx="11430000" cy="512064"/>
          </a:xfrm>
          <a:prstGeom prst="rect">
            <a:avLst/>
          </a:prstGeom>
          <a:noFill/>
        </p:spPr>
        <p:txBody>
          <a:bodyPr wrap="square" anchor="t" lIns="0" rIns="0" tIns="0" bIns="0">
            <a:spAutoFit/>
          </a:bodyPr>
          <a:lstStyle/>
          <a:p>
            <a:pPr>
              <a:lnSpc>
                <a:spcPct val="100000"/>
              </a:lnSpc>
              <a:spcAft>
                <a:spcPts val="0"/>
              </a:spcAft>
            </a:pPr>
            <a:r>
              <a:rPr sz="880" b="1">
                <a:solidFill>
                  <a:srgbClr val="12233D"/>
                </a:solidFill>
                <a:latin typeface="Calibri"/>
              </a:rPr>
              <a:t>Two feedback edges are implemented, not described. </a:t>
            </a:r>
            <a:r>
              <a:rPr sz="880" b="0">
                <a:solidFill>
                  <a:srgbClr val="41546F"/>
                </a:solidFill>
                <a:latin typeface="Calibri"/>
              </a:rPr>
              <a:t>Once a global transform exists, pre-alignment re-runs from the corrected footprint. Cells that fail their quota are re-searched at a lowered threshold inside a 5 px window, which is what actually delivers uniformity: coverage rises from 0.33 to 0.90 on a representative run.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lnSpc>
                <a:spcPct val="90000"/>
              </a:lnSpc>
              <a:spcBef>
                <a:spcPts val="0"/>
              </a:spcBef>
              <a:spcAft>
                <a:spcPts val="400"/>
              </a:spcAft>
            </a:pPr>
            <a:r>
              <a:rPr sz="850" b="1" i="0">
                <a:solidFill>
                  <a:srgbClr val="1F3B73"/>
                </a:solidFill>
                <a:latin typeface="Calibri"/>
              </a:rPr>
              <a:t>Bugs Janta Party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84048" y="1097280"/>
            <a:ext cx="5669280" cy="182880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FEASIBILITY: IT IS BUILT AND IT IS MEASURED</a:t>
            </a:r>
          </a:p>
          <a:p>
            <a:pPr algn="l">
              <a:lnSpc>
                <a:spcPct val="102000"/>
              </a:lnSpc>
              <a:spcBef>
                <a:spcPts val="0"/>
              </a:spcBef>
              <a:spcAft>
                <a:spcPts val="400"/>
              </a:spcAft>
            </a:pPr>
            <a:r>
              <a:rPr sz="940" b="0" i="0">
                <a:solidFill>
                  <a:srgbClr val="41546F"/>
                </a:solidFill>
                <a:latin typeface="Calibri"/>
              </a:rPr>
              <a:t>•  All nine stages implemented, both feedback edges included, running end to end on CPU.</a:t>
            </a:r>
          </a:p>
          <a:p>
            <a:pPr algn="l">
              <a:lnSpc>
                <a:spcPct val="102000"/>
              </a:lnSpc>
              <a:spcBef>
                <a:spcPts val="0"/>
              </a:spcBef>
              <a:spcAft>
                <a:spcPts val="400"/>
              </a:spcAft>
            </a:pPr>
            <a:r>
              <a:rPr sz="940" b="0" i="0">
                <a:solidFill>
                  <a:srgbClr val="41546F"/>
                </a:solidFill>
                <a:latin typeface="Calibri"/>
              </a:rPr>
              <a:t>•  31 benchmark pairs, 12 methods, every metric with a bootstrap confidence interval over pairs.</a:t>
            </a:r>
          </a:p>
          <a:p>
            <a:pPr algn="l">
              <a:lnSpc>
                <a:spcPct val="102000"/>
              </a:lnSpc>
              <a:spcBef>
                <a:spcPts val="0"/>
              </a:spcBef>
              <a:spcAft>
                <a:spcPts val="400"/>
              </a:spcAft>
            </a:pPr>
            <a:r>
              <a:rPr sz="940" b="0" i="0">
                <a:solidFill>
                  <a:srgbClr val="41546F"/>
                </a:solidFill>
                <a:latin typeface="Calibri"/>
              </a:rPr>
              <a:t>•  40 tests, including photometric limiting cases, Clark-Evans calibrated against a Poisson process, and a full pipeline run checked against a known transform.</a:t>
            </a:r>
          </a:p>
          <a:p>
            <a:pPr algn="l">
              <a:lnSpc>
                <a:spcPct val="102000"/>
              </a:lnSpc>
              <a:spcBef>
                <a:spcPts val="0"/>
              </a:spcBef>
              <a:spcAft>
                <a:spcPts val="400"/>
              </a:spcAft>
            </a:pPr>
            <a:r>
              <a:rPr sz="940" b="0" i="0">
                <a:solidFill>
                  <a:srgbClr val="41546F"/>
                </a:solidFill>
                <a:latin typeface="Calibri"/>
              </a:rPr>
              <a:t>•  A registration takes about 5.6 s per pair on a laptop, with no GPU required.</a:t>
            </a:r>
          </a:p>
          <a:p>
            <a:pPr algn="l">
              <a:lnSpc>
                <a:spcPct val="102000"/>
              </a:lnSpc>
              <a:spcBef>
                <a:spcPts val="0"/>
              </a:spcBef>
              <a:spcAft>
                <a:spcPts val="400"/>
              </a:spcAft>
            </a:pPr>
            <a:r>
              <a:rPr sz="940" b="0" i="0">
                <a:solidFill>
                  <a:srgbClr val="41546F"/>
                </a:solidFill>
                <a:latin typeface="Calibri"/>
              </a:rPr>
              <a:t>•  Docker image plus CI that builds it and waits for the container's health check.</a:t>
            </a:r>
          </a:p>
        </p:txBody>
      </p:sp>
      <p:sp>
        <p:nvSpPr>
          <p:cNvPr id="17411" name="TextBox 17410"/>
          <p:cNvSpPr txBox="1"/>
          <p:nvPr/>
        </p:nvSpPr>
        <p:spPr>
          <a:xfrm>
            <a:off x="6263640" y="1042415"/>
            <a:ext cx="5577840" cy="196596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CHALLENGES AND WHAT WE DID ABOUT THEM</a:t>
            </a:r>
          </a:p>
          <a:p>
            <a:pPr>
              <a:lnSpc>
                <a:spcPct val="100000"/>
              </a:lnSpc>
              <a:spcAft>
                <a:spcPts val="450"/>
              </a:spcAft>
            </a:pPr>
            <a:r>
              <a:rPr sz="900">
                <a:solidFill>
                  <a:srgbClr val="41546F"/>
                </a:solidFill>
                <a:latin typeface="Calibri"/>
              </a:rPr>
              <a:t>•  </a:t>
            </a:r>
            <a:r>
              <a:rPr sz="900" b="1">
                <a:solidFill>
                  <a:srgbClr val="12233D"/>
                </a:solidFill>
                <a:latin typeface="Calibri"/>
              </a:rPr>
              <a:t>PRADAN needs an account and the OHRC archive is over 200 GB. </a:t>
            </a:r>
            <a:r>
              <a:rPr sz="900" b="0">
                <a:solidFill>
                  <a:srgbClr val="41546F"/>
                </a:solidFill>
                <a:latin typeface="Calibri"/>
              </a:rPr>
              <a:t>P0 to P2 were built entirely against the controlled benchmark, so no phase was ever blocked on a download. The PDS4, PDS3 and GeoTIFF readers are written and tested against real label structures.</a:t>
            </a:r>
          </a:p>
          <a:p>
            <a:pPr>
              <a:lnSpc>
                <a:spcPct val="100000"/>
              </a:lnSpc>
              <a:spcAft>
                <a:spcPts val="450"/>
              </a:spcAft>
            </a:pPr>
            <a:r>
              <a:rPr sz="900">
                <a:solidFill>
                  <a:srgbClr val="41546F"/>
                </a:solidFill>
                <a:latin typeface="Calibri"/>
              </a:rPr>
              <a:t>•  </a:t>
            </a:r>
            <a:r>
              <a:rPr sz="900" b="1">
                <a:solidFill>
                  <a:srgbClr val="12233D"/>
                </a:solidFill>
                <a:latin typeface="Calibri"/>
              </a:rPr>
              <a:t>SPICE and ISIS integration can consume days. </a:t>
            </a:r>
            <a:r>
              <a:rPr sz="900" b="0">
                <a:solidFill>
                  <a:srgbClr val="41546F"/>
                </a:solidFill>
                <a:latin typeface="Calibri"/>
              </a:rPr>
              <a:t>Tier B, a corner fit with terrain parallax, is the default and is sufficient. Tier A is behind a capability check that degrades and says so.</a:t>
            </a:r>
          </a:p>
          <a:p>
            <a:pPr>
              <a:lnSpc>
                <a:spcPct val="100000"/>
              </a:lnSpc>
              <a:spcAft>
                <a:spcPts val="450"/>
              </a:spcAft>
            </a:pPr>
            <a:r>
              <a:rPr sz="900">
                <a:solidFill>
                  <a:srgbClr val="41546F"/>
                </a:solidFill>
                <a:latin typeface="Calibri"/>
              </a:rPr>
              <a:t>•  </a:t>
            </a:r>
            <a:r>
              <a:rPr sz="900" b="1">
                <a:solidFill>
                  <a:srgbClr val="12233D"/>
                </a:solidFill>
                <a:latin typeface="Calibri"/>
              </a:rPr>
              <a:t>A 59 m DEM cannot render 25 cm OHRC photorealistically. </a:t>
            </a:r>
            <a:r>
              <a:rPr sz="900" b="0">
                <a:solidFill>
                  <a:srgbClr val="41546F"/>
                </a:solidFill>
                <a:latin typeface="Calibri"/>
              </a:rPr>
              <a:t>It is not asked to. The render constrains global and mid-frequency alignment; sub-pixel accuracy comes from S4 on the real image pair. We state this rather than implying the render is photoreal.</a:t>
            </a:r>
          </a:p>
          <a:p>
            <a:pPr>
              <a:lnSpc>
                <a:spcPct val="100000"/>
              </a:lnSpc>
              <a:spcAft>
                <a:spcPts val="450"/>
              </a:spcAft>
            </a:pPr>
            <a:r>
              <a:rPr sz="900">
                <a:solidFill>
                  <a:srgbClr val="41546F"/>
                </a:solidFill>
                <a:latin typeface="Calibri"/>
              </a:rPr>
              <a:t>•  </a:t>
            </a:r>
            <a:r>
              <a:rPr sz="900" b="1">
                <a:solidFill>
                  <a:srgbClr val="12233D"/>
                </a:solidFill>
                <a:latin typeface="Calibri"/>
              </a:rPr>
              <a:t>Repetitive crater fields make deep matchers confidently wrong. </a:t>
            </a:r>
            <a:r>
              <a:rPr sz="900" b="0">
                <a:solidFill>
                  <a:srgbClr val="41546F"/>
                </a:solidFill>
                <a:latin typeface="Calibri"/>
              </a:rPr>
              <a:t>That is what the gate is for, and it is measured below.</a:t>
            </a:r>
          </a:p>
        </p:txBody>
      </p:sp>
      <p:sp>
        <p:nvSpPr>
          <p:cNvPr id="17412" name="Rounded Rectangle 17411"/>
          <p:cNvSpPr/>
          <p:nvPr/>
        </p:nvSpPr>
        <p:spPr>
          <a:xfrm>
            <a:off x="384048" y="2907792"/>
            <a:ext cx="11430000" cy="1170432"/>
          </a:xfrm>
          <a:prstGeom prst="roundRect">
            <a:avLst>
              <a:gd name="adj" fmla="val 6000"/>
            </a:avLst>
          </a:prstGeom>
          <a:solidFill>
            <a:srgbClr val="FDECF1"/>
          </a:solidFill>
          <a:ln w="11430">
            <a:solidFill>
              <a:srgbClr val="C225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621792" y="3017520"/>
            <a:ext cx="10972800" cy="1005840"/>
          </a:xfrm>
          <a:prstGeom prst="rect">
            <a:avLst/>
          </a:prstGeom>
          <a:noFill/>
        </p:spPr>
        <p:txBody>
          <a:bodyPr wrap="square" anchor="t" lIns="0" rIns="0" tIns="0" bIns="0">
            <a:spAutoFit/>
          </a:bodyPr>
          <a:lstStyle/>
          <a:p>
            <a:pPr algn="l">
              <a:lnSpc>
                <a:spcPct val="100000"/>
              </a:lnSpc>
              <a:spcBef>
                <a:spcPts val="0"/>
              </a:spcBef>
              <a:spcAft>
                <a:spcPts val="500"/>
              </a:spcAft>
            </a:pPr>
            <a:r>
              <a:rPr sz="1050" b="1" i="0">
                <a:solidFill>
                  <a:srgbClr val="C2255C"/>
                </a:solidFill>
                <a:latin typeface="Calibri"/>
              </a:rPr>
              <a:t>THE PROPERTY WE ARE PROUDEST OF: IT DECLINES RATHER THAN LIES</a:t>
            </a:r>
          </a:p>
          <a:p>
            <a:pPr>
              <a:lnSpc>
                <a:spcPct val="105000"/>
              </a:lnSpc>
              <a:spcAft>
                <a:spcPts val="0"/>
              </a:spcAft>
            </a:pPr>
            <a:r>
              <a:rPr sz="980" b="0">
                <a:solidFill>
                  <a:srgbClr val="12233D"/>
                </a:solidFill>
                <a:latin typeface="Calibri"/>
              </a:rPr>
              <a:t>At an eightfold scale ratio the deep matcher returns 144 confident correspondences with </a:t>
            </a:r>
            <a:r>
              <a:rPr sz="980" b="1">
                <a:solidFill>
                  <a:srgbClr val="C2255C"/>
                </a:solidFill>
                <a:latin typeface="Calibri"/>
              </a:rPr>
              <a:t>0.0% precision</a:t>
            </a:r>
            <a:r>
              <a:rPr sz="980" b="0">
                <a:solidFill>
                  <a:srgbClr val="41546F"/>
                </a:solidFill>
                <a:latin typeface="Calibri"/>
              </a:rPr>
              <a:t>, a median error of 92 px. The agreement gate rejected every one of them and SETU returned no registration at all. For a system whose output might inform a landing site, refusing to answer is the correct behaviour and a plausible wrong answer is the dangerous one. This is why the two tracks are independent and why the gate exists.</a:t>
            </a:r>
          </a:p>
        </p:txBody>
      </p:sp>
      <p:sp>
        <p:nvSpPr>
          <p:cNvPr id="17414" name="TextBox 17413"/>
          <p:cNvSpPr txBox="1"/>
          <p:nvPr/>
        </p:nvSpPr>
        <p:spPr>
          <a:xfrm>
            <a:off x="384048" y="4261104"/>
            <a:ext cx="5669280" cy="2011680"/>
          </a:xfrm>
          <a:prstGeom prst="rect">
            <a:avLst/>
          </a:prstGeom>
          <a:noFill/>
        </p:spPr>
        <p:txBody>
          <a:bodyPr wrap="square" anchor="t" lIns="0" rIns="0" tIns="0" bIns="0">
            <a:spAutoFit/>
          </a:bodyPr>
          <a:lstStyle/>
          <a:p>
            <a:pPr algn="l">
              <a:lnSpc>
                <a:spcPct val="100000"/>
              </a:lnSpc>
              <a:spcBef>
                <a:spcPts val="0"/>
              </a:spcBef>
              <a:spcAft>
                <a:spcPts val="500"/>
              </a:spcAft>
            </a:pPr>
            <a:r>
              <a:rPr sz="1050" b="1" i="0">
                <a:solidFill>
                  <a:srgbClr val="0E7FBF"/>
                </a:solidFill>
                <a:latin typeface="Calibri"/>
              </a:rPr>
              <a:t>VIABILITY</a:t>
            </a:r>
          </a:p>
          <a:p>
            <a:pPr algn="l">
              <a:lnSpc>
                <a:spcPct val="102000"/>
              </a:lnSpc>
              <a:spcBef>
                <a:spcPts val="0"/>
              </a:spcBef>
              <a:spcAft>
                <a:spcPts val="400"/>
              </a:spcAft>
            </a:pPr>
            <a:r>
              <a:rPr sz="940" b="0" i="0">
                <a:solidFill>
                  <a:srgbClr val="41546F"/>
                </a:solidFill>
                <a:latin typeface="Calibri"/>
              </a:rPr>
              <a:t>•  Nothing hard-codes a payload. OHRC, TMC-2, IIRS, NAC, Kaguya TC and WAC all enter through one Product abstraction.</a:t>
            </a:r>
          </a:p>
          <a:p>
            <a:pPr algn="l">
              <a:lnSpc>
                <a:spcPct val="102000"/>
              </a:lnSpc>
              <a:spcBef>
                <a:spcPts val="0"/>
              </a:spcBef>
              <a:spcAft>
                <a:spcPts val="400"/>
              </a:spcAft>
            </a:pPr>
            <a:r>
              <a:rPr sz="940" b="0" i="0">
                <a:solidFill>
                  <a:srgbClr val="41546F"/>
                </a:solidFill>
                <a:latin typeface="Calibri"/>
              </a:rPr>
              <a:t>•  The reference policy is an inspectable table, so IIRS is matched against Kaguya TC or a hillshade rather than being forced against 0.5 m NAC.</a:t>
            </a:r>
          </a:p>
          <a:p>
            <a:pPr algn="l">
              <a:lnSpc>
                <a:spcPct val="102000"/>
              </a:lnSpc>
              <a:spcBef>
                <a:spcPts val="0"/>
              </a:spcBef>
              <a:spcAft>
                <a:spcPts val="400"/>
              </a:spcAft>
            </a:pPr>
            <a:r>
              <a:rPr sz="940" b="0" i="0">
                <a:solidFill>
                  <a:srgbClr val="41546F"/>
                </a:solidFill>
                <a:latin typeface="Calibri"/>
              </a:rPr>
              <a:t>•  Illumination is never guessed. If it cannot be resolved from a backplane, from SPICE, or from label keywords, the run stops.</a:t>
            </a:r>
          </a:p>
        </p:txBody>
      </p:sp>
      <p:pic>
        <p:nvPicPr>
          <p:cNvPr id="17415" name="Picture 17414" descr="accuracy_bars.png"/>
          <p:cNvPicPr>
            <a:picLocks noChangeAspect="1"/>
          </p:cNvPicPr>
          <p:nvPr/>
        </p:nvPicPr>
        <p:blipFill>
          <a:blip r:embed="rId4"/>
          <a:stretch>
            <a:fillRect/>
          </a:stretch>
        </p:blipFill>
        <p:spPr>
          <a:xfrm>
            <a:off x="6263640" y="4206240"/>
            <a:ext cx="5440680" cy="2122784"/>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lnSpc>
                <a:spcPct val="90000"/>
              </a:lnSpc>
              <a:spcBef>
                <a:spcPts val="0"/>
              </a:spcBef>
              <a:spcAft>
                <a:spcPts val="400"/>
              </a:spcAft>
            </a:pPr>
            <a:r>
              <a:rPr sz="850" b="1" i="0">
                <a:solidFill>
                  <a:srgbClr val="1F3B73"/>
                </a:solidFill>
                <a:latin typeface="Calibri"/>
              </a:rPr>
              <a:t>Bugs Janta Party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84048" y="1097280"/>
            <a:ext cx="5669280" cy="256032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IMPACT ON THE TARGET USER</a:t>
            </a:r>
          </a:p>
          <a:p>
            <a:pPr>
              <a:lnSpc>
                <a:spcPct val="102000"/>
              </a:lnSpc>
              <a:spcAft>
                <a:spcPts val="500"/>
              </a:spcAft>
            </a:pPr>
            <a:r>
              <a:rPr sz="940">
                <a:solidFill>
                  <a:srgbClr val="41546F"/>
                </a:solidFill>
                <a:latin typeface="Calibri"/>
              </a:rPr>
              <a:t>•  </a:t>
            </a:r>
            <a:r>
              <a:rPr sz="940" b="1">
                <a:solidFill>
                  <a:srgbClr val="12233D"/>
                </a:solidFill>
                <a:latin typeface="Calibri"/>
              </a:rPr>
              <a:t>Archived Chandrayaan-2 data becomes geometrically usable. </a:t>
            </a:r>
            <a:r>
              <a:rPr sz="940" b="0">
                <a:solidFill>
                  <a:srgbClr val="41546F"/>
                </a:solidFill>
                <a:latin typeface="Calibri"/>
              </a:rPr>
              <a:t>Kilometre-level geolocation is the reason OHRC, TMC-2 and IIRS products are hard to combine with each other or with LRO. Correcting that turns an archive of individually good images into a co-registered one.</a:t>
            </a:r>
          </a:p>
          <a:p>
            <a:pPr>
              <a:lnSpc>
                <a:spcPct val="102000"/>
              </a:lnSpc>
              <a:spcAft>
                <a:spcPts val="500"/>
              </a:spcAft>
            </a:pPr>
            <a:r>
              <a:rPr sz="940">
                <a:solidFill>
                  <a:srgbClr val="41546F"/>
                </a:solidFill>
                <a:latin typeface="Calibri"/>
              </a:rPr>
              <a:t>•  </a:t>
            </a:r>
            <a:r>
              <a:rPr sz="940" b="1">
                <a:solidFill>
                  <a:srgbClr val="12233D"/>
                </a:solidFill>
                <a:latin typeface="Calibri"/>
              </a:rPr>
              <a:t>A tie-point list an agency can actually ingest. </a:t>
            </a:r>
            <a:r>
              <a:rPr sz="940" b="0">
                <a:solidFill>
                  <a:srgbClr val="41546F"/>
                </a:solidFill>
                <a:latin typeface="Calibri"/>
              </a:rPr>
              <a:t>Every point carries its own covariance, so a downstream bundle adjustment or DEM pipeline can weight it properly instead of treating all matches as equal.</a:t>
            </a:r>
          </a:p>
          <a:p>
            <a:pPr>
              <a:lnSpc>
                <a:spcPct val="102000"/>
              </a:lnSpc>
              <a:spcAft>
                <a:spcPts val="500"/>
              </a:spcAft>
            </a:pPr>
            <a:r>
              <a:rPr sz="940">
                <a:solidFill>
                  <a:srgbClr val="41546F"/>
                </a:solidFill>
                <a:latin typeface="Calibri"/>
              </a:rPr>
              <a:t>•  </a:t>
            </a:r>
            <a:r>
              <a:rPr sz="940" b="1">
                <a:solidFill>
                  <a:srgbClr val="12233D"/>
                </a:solidFill>
                <a:latin typeface="Calibri"/>
              </a:rPr>
              <a:t>A measurement of spacecraft pointing, for free. </a:t>
            </a:r>
            <a:r>
              <a:rPr sz="940" b="0">
                <a:solidFill>
                  <a:srgbClr val="41546F"/>
                </a:solidFill>
                <a:latin typeface="Calibri"/>
              </a:rPr>
              <a:t>The per-row jitter spline fitted for pushbroom payloads reports the amplitude and dominant period of attitude jitter, which falls out of registration as a by-product.</a:t>
            </a:r>
          </a:p>
          <a:p>
            <a:pPr>
              <a:lnSpc>
                <a:spcPct val="102000"/>
              </a:lnSpc>
              <a:spcAft>
                <a:spcPts val="500"/>
              </a:spcAft>
            </a:pPr>
            <a:r>
              <a:rPr sz="940">
                <a:solidFill>
                  <a:srgbClr val="41546F"/>
                </a:solidFill>
                <a:latin typeface="Calibri"/>
              </a:rPr>
              <a:t>•  </a:t>
            </a:r>
            <a:r>
              <a:rPr sz="940" b="1">
                <a:solidFill>
                  <a:srgbClr val="12233D"/>
                </a:solidFill>
                <a:latin typeface="Calibri"/>
              </a:rPr>
              <a:t>Site selection and change detection. </a:t>
            </a:r>
            <a:r>
              <a:rPr sz="940" b="0">
                <a:solidFill>
                  <a:srgbClr val="41546F"/>
                </a:solidFill>
                <a:latin typeface="Calibri"/>
              </a:rPr>
              <a:t>Uniform, uncertainty-tagged correspondence over the whole overlap is what landing site characterisation and repeat-pass comparison need.</a:t>
            </a:r>
          </a:p>
        </p:txBody>
      </p:sp>
      <p:sp>
        <p:nvSpPr>
          <p:cNvPr id="17411" name="TextBox 17410"/>
          <p:cNvSpPr txBox="1"/>
          <p:nvPr/>
        </p:nvSpPr>
        <p:spPr>
          <a:xfrm>
            <a:off x="6263640" y="1024128"/>
            <a:ext cx="5577840" cy="265176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BENEFITS</a:t>
            </a:r>
          </a:p>
          <a:p>
            <a:pPr>
              <a:lnSpc>
                <a:spcPct val="102000"/>
              </a:lnSpc>
              <a:spcAft>
                <a:spcPts val="500"/>
              </a:spcAft>
            </a:pPr>
            <a:r>
              <a:rPr sz="940">
                <a:solidFill>
                  <a:srgbClr val="41546F"/>
                </a:solidFill>
                <a:latin typeface="Calibri"/>
              </a:rPr>
              <a:t>•  </a:t>
            </a:r>
            <a:r>
              <a:rPr sz="940" b="1">
                <a:solidFill>
                  <a:srgbClr val="12233D"/>
                </a:solidFill>
                <a:latin typeface="Calibri"/>
              </a:rPr>
              <a:t>Scientific. </a:t>
            </a:r>
            <a:r>
              <a:rPr sz="940" b="0">
                <a:solidFill>
                  <a:srgbClr val="41546F"/>
                </a:solidFill>
                <a:latin typeface="Calibri"/>
              </a:rPr>
              <a:t>The method generalises past the Moon. Any airless body with a shape model and seleno-tagged imagery has the same illumination problem, so Mars, Mercury and asteroid campaigns inherit the approach unchanged.</a:t>
            </a:r>
          </a:p>
          <a:p>
            <a:pPr>
              <a:lnSpc>
                <a:spcPct val="102000"/>
              </a:lnSpc>
              <a:spcAft>
                <a:spcPts val="500"/>
              </a:spcAft>
            </a:pPr>
            <a:r>
              <a:rPr sz="940">
                <a:solidFill>
                  <a:srgbClr val="41546F"/>
                </a:solidFill>
                <a:latin typeface="Calibri"/>
              </a:rPr>
              <a:t>•  </a:t>
            </a:r>
            <a:r>
              <a:rPr sz="940" b="1">
                <a:solidFill>
                  <a:srgbClr val="12233D"/>
                </a:solidFill>
                <a:latin typeface="Calibri"/>
              </a:rPr>
              <a:t>Operational. </a:t>
            </a:r>
            <a:r>
              <a:rPr sz="940" b="0">
                <a:solidFill>
                  <a:srgbClr val="41546F"/>
                </a:solidFill>
                <a:latin typeface="Calibri"/>
              </a:rPr>
              <a:t>Runs on a laptop with no GPU. A registration finishes in seconds, and the whole install is one Docker image, which is the part most likely to fail on the day.</a:t>
            </a:r>
          </a:p>
          <a:p>
            <a:pPr>
              <a:lnSpc>
                <a:spcPct val="102000"/>
              </a:lnSpc>
              <a:spcAft>
                <a:spcPts val="500"/>
              </a:spcAft>
            </a:pPr>
            <a:r>
              <a:rPr sz="940">
                <a:solidFill>
                  <a:srgbClr val="41546F"/>
                </a:solidFill>
                <a:latin typeface="Calibri"/>
              </a:rPr>
              <a:t>•  </a:t>
            </a:r>
            <a:r>
              <a:rPr sz="940" b="1">
                <a:solidFill>
                  <a:srgbClr val="12233D"/>
                </a:solidFill>
                <a:latin typeface="Calibri"/>
              </a:rPr>
              <a:t>Economic. </a:t>
            </a:r>
            <a:r>
              <a:rPr sz="940" b="0">
                <a:solidFill>
                  <a:srgbClr val="41546F"/>
                </a:solidFill>
                <a:latin typeface="Calibri"/>
              </a:rPr>
              <a:t>Nothing proprietary. Every dependency is open source and every reference dataset is public, so there is no licence to renew and no vendor to depend on.</a:t>
            </a:r>
          </a:p>
          <a:p>
            <a:pPr>
              <a:lnSpc>
                <a:spcPct val="102000"/>
              </a:lnSpc>
              <a:spcAft>
                <a:spcPts val="500"/>
              </a:spcAft>
            </a:pPr>
            <a:r>
              <a:rPr sz="940">
                <a:solidFill>
                  <a:srgbClr val="41546F"/>
                </a:solidFill>
                <a:latin typeface="Calibri"/>
              </a:rPr>
              <a:t>•  </a:t>
            </a:r>
            <a:r>
              <a:rPr sz="940" b="1">
                <a:solidFill>
                  <a:srgbClr val="12233D"/>
                </a:solidFill>
                <a:latin typeface="Calibri"/>
              </a:rPr>
              <a:t>Methodological. </a:t>
            </a:r>
            <a:r>
              <a:rPr sz="940" b="0">
                <a:solidFill>
                  <a:srgbClr val="41546F"/>
                </a:solidFill>
                <a:latin typeface="Calibri"/>
              </a:rPr>
              <a:t>The benchmark generator ships with the system, so a future team can measure against exact truth rather than against a screenshot.</a:t>
            </a:r>
          </a:p>
        </p:txBody>
      </p:sp>
      <p:sp>
        <p:nvSpPr>
          <p:cNvPr id="17412" name="Rounded Rectangle 17411"/>
          <p:cNvSpPr/>
          <p:nvPr/>
        </p:nvSpPr>
        <p:spPr>
          <a:xfrm>
            <a:off x="384048" y="3822191"/>
            <a:ext cx="11430000" cy="1170432"/>
          </a:xfrm>
          <a:prstGeom prst="roundRect">
            <a:avLst>
              <a:gd name="adj" fmla="val 6000"/>
            </a:avLst>
          </a:prstGeom>
          <a:solidFill>
            <a:srgbClr val="ECF7F2"/>
          </a:solidFill>
          <a:ln w="11430">
            <a:solidFill>
              <a:srgbClr val="0F76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621792" y="3931920"/>
            <a:ext cx="10972800" cy="10058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F764B"/>
                </a:solidFill>
                <a:latin typeface="Calibri"/>
              </a:rPr>
              <a:t>TRY IT</a:t>
            </a:r>
          </a:p>
          <a:p>
            <a:pPr>
              <a:lnSpc>
                <a:spcPct val="100000"/>
              </a:lnSpc>
              <a:spcAft>
                <a:spcPts val="300"/>
              </a:spcAft>
            </a:pPr>
            <a:r>
              <a:rPr sz="1150" b="0">
                <a:solidFill>
                  <a:srgbClr val="41546F"/>
                </a:solidFill>
                <a:latin typeface="Calibri"/>
              </a:rPr>
              <a:t>Live demo:  </a:t>
            </a:r>
            <a:r>
              <a:rPr sz="1150" b="1">
                <a:solidFill>
                  <a:srgbClr val="0F764B"/>
                </a:solidFill>
                <a:latin typeface="Calibri"/>
              </a:rPr>
              <a:t>https://arya-patil686.github.io/setu-sih2026/</a:t>
            </a:r>
          </a:p>
          <a:p>
            <a:pPr algn="l">
              <a:lnSpc>
                <a:spcPct val="102000"/>
              </a:lnSpc>
              <a:spcBef>
                <a:spcPts val="0"/>
              </a:spcBef>
              <a:spcAft>
                <a:spcPts val="0"/>
              </a:spcAft>
            </a:pPr>
            <a:r>
              <a:rPr sz="919" b="0" i="0">
                <a:solidFill>
                  <a:srgbClr val="41546F"/>
                </a:solidFill>
                <a:latin typeface="Calibri"/>
              </a:rPr>
              <a:t>Three complete registrations at increasing difficulty, the pipeline played stage by stage with the re-illumination as a visible step, tie points coloured by residual, and the full leaderboard with confidence intervals.</a:t>
            </a:r>
          </a:p>
        </p:txBody>
      </p:sp>
      <p:sp>
        <p:nvSpPr>
          <p:cNvPr id="17414" name="TextBox 17413"/>
          <p:cNvSpPr txBox="1"/>
          <p:nvPr/>
        </p:nvSpPr>
        <p:spPr>
          <a:xfrm>
            <a:off x="384048" y="5138928"/>
            <a:ext cx="11430000" cy="1097280"/>
          </a:xfrm>
          <a:prstGeom prst="rect">
            <a:avLst/>
          </a:prstGeom>
          <a:noFill/>
        </p:spPr>
        <p:txBody>
          <a:bodyPr wrap="square" anchor="t" lIns="0" rIns="0" tIns="0" bIns="0">
            <a:spAutoFit/>
          </a:bodyPr>
          <a:lstStyle/>
          <a:p>
            <a:pPr algn="l">
              <a:lnSpc>
                <a:spcPct val="100000"/>
              </a:lnSpc>
              <a:spcBef>
                <a:spcPts val="0"/>
              </a:spcBef>
              <a:spcAft>
                <a:spcPts val="500"/>
              </a:spcAft>
            </a:pPr>
            <a:r>
              <a:rPr sz="1050" b="1" i="0">
                <a:solidFill>
                  <a:srgbClr val="0E7FBF"/>
                </a:solidFill>
                <a:latin typeface="Calibri"/>
              </a:rPr>
              <a:t>HEADLINE NUMBERS</a:t>
            </a:r>
          </a:p>
        </p:txBody>
      </p:sp>
      <p:sp>
        <p:nvSpPr>
          <p:cNvPr id="17415" name="TextBox 17414"/>
          <p:cNvSpPr txBox="1"/>
          <p:nvPr/>
        </p:nvSpPr>
        <p:spPr>
          <a:xfrm>
            <a:off x="384048" y="5504688"/>
            <a:ext cx="2240280" cy="713232"/>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0F764B"/>
                </a:solidFill>
                <a:latin typeface="Calibri"/>
              </a:rPr>
              <a:t>0.361 px</a:t>
            </a:r>
          </a:p>
          <a:p>
            <a:pPr algn="l">
              <a:lnSpc>
                <a:spcPct val="100000"/>
              </a:lnSpc>
              <a:spcBef>
                <a:spcPts val="0"/>
              </a:spcBef>
              <a:spcAft>
                <a:spcPts val="0"/>
              </a:spcAft>
            </a:pPr>
            <a:r>
              <a:rPr sz="850" b="0" i="0">
                <a:solidFill>
                  <a:srgbClr val="41546F"/>
                </a:solidFill>
                <a:latin typeface="Calibri"/>
              </a:rPr>
              <a:t>tie-point RMSE vs exact truth</a:t>
            </a:r>
          </a:p>
        </p:txBody>
      </p:sp>
      <p:sp>
        <p:nvSpPr>
          <p:cNvPr id="17416" name="TextBox 17415"/>
          <p:cNvSpPr txBox="1"/>
          <p:nvPr/>
        </p:nvSpPr>
        <p:spPr>
          <a:xfrm>
            <a:off x="2688336" y="5504688"/>
            <a:ext cx="2240280" cy="713232"/>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0F764B"/>
                </a:solidFill>
                <a:latin typeface="Calibri"/>
              </a:rPr>
              <a:t>100%</a:t>
            </a:r>
          </a:p>
          <a:p>
            <a:pPr algn="l">
              <a:lnSpc>
                <a:spcPct val="100000"/>
              </a:lnSpc>
              <a:spcBef>
                <a:spcPts val="0"/>
              </a:spcBef>
              <a:spcAft>
                <a:spcPts val="0"/>
              </a:spcAft>
            </a:pPr>
            <a:r>
              <a:rPr sz="850" b="0" i="0">
                <a:solidFill>
                  <a:srgbClr val="41546F"/>
                </a:solidFill>
                <a:latin typeface="Calibri"/>
              </a:rPr>
              <a:t>matches within 3 px of truth</a:t>
            </a:r>
          </a:p>
        </p:txBody>
      </p:sp>
      <p:sp>
        <p:nvSpPr>
          <p:cNvPr id="17417" name="TextBox 17416"/>
          <p:cNvSpPr txBox="1"/>
          <p:nvPr/>
        </p:nvSpPr>
        <p:spPr>
          <a:xfrm>
            <a:off x="4992624" y="5504688"/>
            <a:ext cx="2240280" cy="713232"/>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0F764B"/>
                </a:solidFill>
                <a:latin typeface="Calibri"/>
              </a:rPr>
              <a:t>100%</a:t>
            </a:r>
          </a:p>
          <a:p>
            <a:pPr algn="l">
              <a:lnSpc>
                <a:spcPct val="100000"/>
              </a:lnSpc>
              <a:spcBef>
                <a:spcPts val="0"/>
              </a:spcBef>
              <a:spcAft>
                <a:spcPts val="0"/>
              </a:spcAft>
            </a:pPr>
            <a:r>
              <a:rPr sz="850" b="0" i="0">
                <a:solidFill>
                  <a:srgbClr val="41546F"/>
                </a:solidFill>
                <a:latin typeface="Calibri"/>
              </a:rPr>
              <a:t>inlier ratio after MAGSAC++</a:t>
            </a:r>
          </a:p>
        </p:txBody>
      </p:sp>
      <p:sp>
        <p:nvSpPr>
          <p:cNvPr id="17418" name="TextBox 17417"/>
          <p:cNvSpPr txBox="1"/>
          <p:nvPr/>
        </p:nvSpPr>
        <p:spPr>
          <a:xfrm>
            <a:off x="7296912" y="5504688"/>
            <a:ext cx="2240280" cy="713232"/>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0F764B"/>
                </a:solidFill>
                <a:latin typeface="Calibri"/>
              </a:rPr>
              <a:t>0.81</a:t>
            </a:r>
          </a:p>
          <a:p>
            <a:pPr algn="l">
              <a:lnSpc>
                <a:spcPct val="100000"/>
              </a:lnSpc>
              <a:spcBef>
                <a:spcPts val="0"/>
              </a:spcBef>
              <a:spcAft>
                <a:spcPts val="0"/>
              </a:spcAft>
            </a:pPr>
            <a:r>
              <a:rPr sz="850" b="0" i="0">
                <a:solidFill>
                  <a:srgbClr val="41546F"/>
                </a:solidFill>
                <a:latin typeface="Calibri"/>
              </a:rPr>
              <a:t>coverage at 150 points</a:t>
            </a:r>
          </a:p>
        </p:txBody>
      </p:sp>
      <p:sp>
        <p:nvSpPr>
          <p:cNvPr id="17419" name="TextBox 17418"/>
          <p:cNvSpPr txBox="1"/>
          <p:nvPr/>
        </p:nvSpPr>
        <p:spPr>
          <a:xfrm>
            <a:off x="9601200" y="5504688"/>
            <a:ext cx="2240280" cy="713232"/>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0F764B"/>
                </a:solidFill>
                <a:latin typeface="Calibri"/>
              </a:rPr>
              <a:t>416x</a:t>
            </a:r>
          </a:p>
          <a:p>
            <a:pPr algn="l">
              <a:lnSpc>
                <a:spcPct val="100000"/>
              </a:lnSpc>
              <a:spcBef>
                <a:spcPts val="0"/>
              </a:spcBef>
              <a:spcAft>
                <a:spcPts val="0"/>
              </a:spcAft>
            </a:pPr>
            <a:r>
              <a:rPr sz="850" b="0" i="0">
                <a:solidFill>
                  <a:srgbClr val="41546F"/>
                </a:solidFill>
                <a:latin typeface="Calibri"/>
              </a:rPr>
              <a:t>better than SIFT per tie point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lnSpc>
                <a:spcPct val="90000"/>
              </a:lnSpc>
              <a:spcBef>
                <a:spcPts val="0"/>
              </a:spcBef>
              <a:spcAft>
                <a:spcPts val="400"/>
              </a:spcAft>
            </a:pPr>
            <a:r>
              <a:rPr sz="850" b="1" i="0">
                <a:solidFill>
                  <a:srgbClr val="1F3B73"/>
                </a:solidFill>
                <a:latin typeface="Calibri"/>
              </a:rPr>
              <a:t>Bugs Janta Party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84048" y="1097280"/>
            <a:ext cx="5760720" cy="493776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RESEARCH THIS BUILDS ON</a:t>
            </a:r>
          </a:p>
          <a:p>
            <a:pPr>
              <a:lnSpc>
                <a:spcPct val="100000"/>
              </a:lnSpc>
              <a:spcAft>
                <a:spcPts val="360"/>
              </a:spcAft>
            </a:pPr>
            <a:r>
              <a:rPr sz="860">
                <a:solidFill>
                  <a:srgbClr val="41546F"/>
                </a:solidFill>
                <a:latin typeface="Calibri"/>
              </a:rPr>
              <a:t>•  </a:t>
            </a:r>
            <a:r>
              <a:rPr sz="860" b="1">
                <a:solidFill>
                  <a:srgbClr val="12233D"/>
                </a:solidFill>
                <a:latin typeface="Calibri"/>
              </a:rPr>
              <a:t>He et al. </a:t>
            </a:r>
            <a:r>
              <a:rPr sz="860" b="0">
                <a:solidFill>
                  <a:srgbClr val="41546F"/>
                </a:solidFill>
                <a:latin typeface="Calibri"/>
              </a:rPr>
              <a:t>MatchAnything: Universal Cross-Modality Image Matching with Large-Scale Pre-Training. TPAMI 2026, arXiv:2501.07556. Track A weights.</a:t>
            </a:r>
          </a:p>
          <a:p>
            <a:pPr>
              <a:lnSpc>
                <a:spcPct val="100000"/>
              </a:lnSpc>
              <a:spcAft>
                <a:spcPts val="360"/>
              </a:spcAft>
            </a:pPr>
            <a:r>
              <a:rPr sz="860">
                <a:solidFill>
                  <a:srgbClr val="41546F"/>
                </a:solidFill>
                <a:latin typeface="Calibri"/>
              </a:rPr>
              <a:t>•  </a:t>
            </a:r>
            <a:r>
              <a:rPr sz="860" b="1">
                <a:solidFill>
                  <a:srgbClr val="12233D"/>
                </a:solidFill>
                <a:latin typeface="Calibri"/>
              </a:rPr>
              <a:t>Li, Hu and Ai. </a:t>
            </a:r>
            <a:r>
              <a:rPr sz="860" b="0">
                <a:solidFill>
                  <a:srgbClr val="41546F"/>
                </a:solidFill>
                <a:latin typeface="Calibri"/>
              </a:rPr>
              <a:t>RIFT: Multi-Modal Image Matching Based on Radiation-Variation Insensitive Feature Transform. IEEE TIP 29:3296, 2020. Track B descriptor.</a:t>
            </a:r>
          </a:p>
          <a:p>
            <a:pPr>
              <a:lnSpc>
                <a:spcPct val="100000"/>
              </a:lnSpc>
              <a:spcAft>
                <a:spcPts val="360"/>
              </a:spcAft>
            </a:pPr>
            <a:r>
              <a:rPr sz="860">
                <a:solidFill>
                  <a:srgbClr val="41546F"/>
                </a:solidFill>
                <a:latin typeface="Calibri"/>
              </a:rPr>
              <a:t>•  </a:t>
            </a:r>
            <a:r>
              <a:rPr sz="860" b="1">
                <a:solidFill>
                  <a:srgbClr val="12233D"/>
                </a:solidFill>
                <a:latin typeface="Calibri"/>
              </a:rPr>
              <a:t>Ye et al. </a:t>
            </a:r>
            <a:r>
              <a:rPr sz="860" b="0">
                <a:solidFill>
                  <a:srgbClr val="41546F"/>
                </a:solidFill>
                <a:latin typeface="Calibri"/>
              </a:rPr>
              <a:t>Structural similarity for multimodal remote sensing (HOPC), IEEE TGRS 55(5) 2017, and CFOG, ISPRS 2019.</a:t>
            </a:r>
          </a:p>
          <a:p>
            <a:pPr>
              <a:lnSpc>
                <a:spcPct val="100000"/>
              </a:lnSpc>
              <a:spcAft>
                <a:spcPts val="360"/>
              </a:spcAft>
            </a:pPr>
            <a:r>
              <a:rPr sz="860">
                <a:solidFill>
                  <a:srgbClr val="41546F"/>
                </a:solidFill>
                <a:latin typeface="Calibri"/>
              </a:rPr>
              <a:t>•  </a:t>
            </a:r>
            <a:r>
              <a:rPr sz="860" b="1">
                <a:solidFill>
                  <a:srgbClr val="12233D"/>
                </a:solidFill>
                <a:latin typeface="Calibri"/>
              </a:rPr>
              <a:t>Kovesi. </a:t>
            </a:r>
            <a:r>
              <a:rPr sz="860" b="0">
                <a:solidFill>
                  <a:srgbClr val="41546F"/>
                </a:solidFill>
                <a:latin typeface="Calibri"/>
              </a:rPr>
              <a:t>Image Features from Phase Congruency, 1999. Vendored, because phasepack breaks on modern NumPy.</a:t>
            </a:r>
          </a:p>
          <a:p>
            <a:pPr>
              <a:lnSpc>
                <a:spcPct val="100000"/>
              </a:lnSpc>
              <a:spcAft>
                <a:spcPts val="360"/>
              </a:spcAft>
            </a:pPr>
            <a:r>
              <a:rPr sz="860">
                <a:solidFill>
                  <a:srgbClr val="41546F"/>
                </a:solidFill>
                <a:latin typeface="Calibri"/>
              </a:rPr>
              <a:t>•  </a:t>
            </a:r>
            <a:r>
              <a:rPr sz="860" b="1">
                <a:solidFill>
                  <a:srgbClr val="12233D"/>
                </a:solidFill>
                <a:latin typeface="Calibri"/>
              </a:rPr>
              <a:t>Kumar, Kaushal and Murthy. </a:t>
            </a:r>
            <a:r>
              <a:rPr sz="860" b="0">
                <a:solidFill>
                  <a:srgbClr val="41546F"/>
                </a:solidFill>
                <a:latin typeface="Calibri"/>
              </a:rPr>
              <a:t>MoonMetaSync: Lunar Image Registration Analysis, arXiv:2410.11118, 2024. The lunar-specific floor we set out to beat.</a:t>
            </a:r>
          </a:p>
          <a:p>
            <a:pPr>
              <a:lnSpc>
                <a:spcPct val="100000"/>
              </a:lnSpc>
              <a:spcAft>
                <a:spcPts val="360"/>
              </a:spcAft>
            </a:pPr>
            <a:r>
              <a:rPr sz="860">
                <a:solidFill>
                  <a:srgbClr val="41546F"/>
                </a:solidFill>
                <a:latin typeface="Calibri"/>
              </a:rPr>
              <a:t>•  </a:t>
            </a:r>
            <a:r>
              <a:rPr sz="860" b="1">
                <a:solidFill>
                  <a:srgbClr val="12233D"/>
                </a:solidFill>
                <a:latin typeface="Calibri"/>
              </a:rPr>
              <a:t>Tungathurthi. </a:t>
            </a:r>
            <a:r>
              <a:rPr sz="860" b="0">
                <a:solidFill>
                  <a:srgbClr val="41546F"/>
                </a:solidFill>
                <a:latin typeface="Calibri"/>
              </a:rPr>
              <a:t>Geodetically Anchored 0.30 m DEM of the Chandrayaan-3 Vikram Landing Site, arXiv:2602.14993, 2026. Documents the 4 to 6 km OHRC geolocation error.</a:t>
            </a:r>
          </a:p>
          <a:p>
            <a:pPr>
              <a:lnSpc>
                <a:spcPct val="100000"/>
              </a:lnSpc>
              <a:spcAft>
                <a:spcPts val="360"/>
              </a:spcAft>
            </a:pPr>
            <a:r>
              <a:rPr sz="860">
                <a:solidFill>
                  <a:srgbClr val="41546F"/>
                </a:solidFill>
                <a:latin typeface="Calibri"/>
              </a:rPr>
              <a:t>•  </a:t>
            </a:r>
            <a:r>
              <a:rPr sz="860" b="1">
                <a:solidFill>
                  <a:srgbClr val="12233D"/>
                </a:solidFill>
                <a:latin typeface="Calibri"/>
              </a:rPr>
              <a:t>Barker et al. </a:t>
            </a:r>
            <a:r>
              <a:rPr sz="860" b="0">
                <a:solidFill>
                  <a:srgbClr val="41546F"/>
                </a:solidFill>
                <a:latin typeface="Calibri"/>
              </a:rPr>
              <a:t>SLDEM2015, a new lunar DEM from LOLA and SELENE Terrain Camera. Icarus 273:346, 2016. The shape model.</a:t>
            </a:r>
          </a:p>
          <a:p>
            <a:pPr>
              <a:lnSpc>
                <a:spcPct val="100000"/>
              </a:lnSpc>
              <a:spcAft>
                <a:spcPts val="360"/>
              </a:spcAft>
            </a:pPr>
            <a:r>
              <a:rPr sz="860">
                <a:solidFill>
                  <a:srgbClr val="41546F"/>
                </a:solidFill>
                <a:latin typeface="Calibri"/>
              </a:rPr>
              <a:t>•  </a:t>
            </a:r>
            <a:r>
              <a:rPr sz="860" b="1">
                <a:solidFill>
                  <a:srgbClr val="12233D"/>
                </a:solidFill>
                <a:latin typeface="Calibri"/>
              </a:rPr>
              <a:t>Chowdhury et al. </a:t>
            </a:r>
            <a:r>
              <a:rPr sz="860" b="0">
                <a:solidFill>
                  <a:srgbClr val="41546F"/>
                </a:solidFill>
                <a:latin typeface="Calibri"/>
              </a:rPr>
              <a:t>Chandrayaan-2 Orbiter High Resolution Camera. Current Science 118(4):560, 2020, with companion papers on TMC-2 and IIRS.</a:t>
            </a:r>
          </a:p>
          <a:p>
            <a:pPr>
              <a:lnSpc>
                <a:spcPct val="100000"/>
              </a:lnSpc>
              <a:spcAft>
                <a:spcPts val="360"/>
              </a:spcAft>
            </a:pPr>
            <a:r>
              <a:rPr sz="860">
                <a:solidFill>
                  <a:srgbClr val="41546F"/>
                </a:solidFill>
                <a:latin typeface="Calibri"/>
              </a:rPr>
              <a:t>•  </a:t>
            </a:r>
            <a:r>
              <a:rPr sz="860" b="1">
                <a:solidFill>
                  <a:srgbClr val="12233D"/>
                </a:solidFill>
                <a:latin typeface="Calibri"/>
              </a:rPr>
              <a:t>Verma, Chauhan and Chauhan. </a:t>
            </a:r>
            <a:r>
              <a:rPr sz="860" b="0">
                <a:solidFill>
                  <a:srgbClr val="41546F"/>
                </a:solidFill>
                <a:latin typeface="Calibri"/>
              </a:rPr>
              <a:t>Lunar surface temperature and thermal emission correction from Chandrayaan-2 IIRS. Icarus 383:115075, 2022.</a:t>
            </a:r>
          </a:p>
          <a:p>
            <a:pPr>
              <a:lnSpc>
                <a:spcPct val="100000"/>
              </a:lnSpc>
              <a:spcAft>
                <a:spcPts val="360"/>
              </a:spcAft>
            </a:pPr>
            <a:r>
              <a:rPr sz="860">
                <a:solidFill>
                  <a:srgbClr val="41546F"/>
                </a:solidFill>
                <a:latin typeface="Calibri"/>
              </a:rPr>
              <a:t>•  </a:t>
            </a:r>
            <a:r>
              <a:rPr sz="860" b="1">
                <a:solidFill>
                  <a:srgbClr val="12233D"/>
                </a:solidFill>
                <a:latin typeface="Calibri"/>
              </a:rPr>
              <a:t>Barath et al. </a:t>
            </a:r>
            <a:r>
              <a:rPr sz="860" b="0">
                <a:solidFill>
                  <a:srgbClr val="41546F"/>
                </a:solidFill>
                <a:latin typeface="Calibri"/>
              </a:rPr>
              <a:t>MAGSAC++, CVPR 2020. The robust estimator, with an adaptive threshold derived from our own per-point covariances.</a:t>
            </a:r>
          </a:p>
        </p:txBody>
      </p:sp>
      <p:sp>
        <p:nvSpPr>
          <p:cNvPr id="17411" name="TextBox 17410"/>
          <p:cNvSpPr txBox="1"/>
          <p:nvPr/>
        </p:nvSpPr>
        <p:spPr>
          <a:xfrm>
            <a:off x="6355080" y="1024128"/>
            <a:ext cx="5486400" cy="237744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0E7FBF"/>
                </a:solidFill>
                <a:latin typeface="Calibri"/>
              </a:rPr>
              <a:t>DATA SOURCES</a:t>
            </a:r>
          </a:p>
          <a:p>
            <a:pPr>
              <a:lnSpc>
                <a:spcPct val="100000"/>
              </a:lnSpc>
              <a:spcAft>
                <a:spcPts val="360"/>
              </a:spcAft>
            </a:pPr>
            <a:r>
              <a:rPr sz="880">
                <a:solidFill>
                  <a:srgbClr val="41546F"/>
                </a:solidFill>
                <a:latin typeface="Calibri"/>
              </a:rPr>
              <a:t>•  </a:t>
            </a:r>
            <a:r>
              <a:rPr sz="880" b="1">
                <a:solidFill>
                  <a:srgbClr val="12233D"/>
                </a:solidFill>
                <a:latin typeface="Calibri"/>
              </a:rPr>
              <a:t>Chandrayaan-2 L1: </a:t>
            </a:r>
            <a:r>
              <a:rPr sz="880" b="0">
                <a:solidFill>
                  <a:srgbClr val="41546F"/>
                </a:solidFill>
                <a:latin typeface="Calibri"/>
              </a:rPr>
              <a:t>OHRC, TMC-2 and IIRS with SPICE kernels, via PRADAN (pradan.issdc.gov.in/ch2)</a:t>
            </a:r>
          </a:p>
          <a:p>
            <a:pPr>
              <a:lnSpc>
                <a:spcPct val="100000"/>
              </a:lnSpc>
              <a:spcAft>
                <a:spcPts val="360"/>
              </a:spcAft>
            </a:pPr>
            <a:r>
              <a:rPr sz="880">
                <a:solidFill>
                  <a:srgbClr val="41546F"/>
                </a:solidFill>
                <a:latin typeface="Calibri"/>
              </a:rPr>
              <a:t>•  </a:t>
            </a:r>
            <a:r>
              <a:rPr sz="880" b="1">
                <a:solidFill>
                  <a:srgbClr val="12233D"/>
                </a:solidFill>
                <a:latin typeface="Calibri"/>
              </a:rPr>
              <a:t>LRO NAC and NAC DTMs: </a:t>
            </a:r>
            <a:r>
              <a:rPr sz="880" b="0">
                <a:solidFill>
                  <a:srgbClr val="41546F"/>
                </a:solidFill>
                <a:latin typeface="Calibri"/>
              </a:rPr>
              <a:t>via LROC and the ODE search (ode.rsl.wustl.edu/moon)</a:t>
            </a:r>
          </a:p>
          <a:p>
            <a:pPr>
              <a:lnSpc>
                <a:spcPct val="100000"/>
              </a:lnSpc>
              <a:spcAft>
                <a:spcPts val="360"/>
              </a:spcAft>
            </a:pPr>
            <a:r>
              <a:rPr sz="880">
                <a:solidFill>
                  <a:srgbClr val="41546F"/>
                </a:solidFill>
                <a:latin typeface="Calibri"/>
              </a:rPr>
              <a:t>•  </a:t>
            </a:r>
            <a:r>
              <a:rPr sz="880" b="1">
                <a:solidFill>
                  <a:srgbClr val="12233D"/>
                </a:solidFill>
                <a:latin typeface="Calibri"/>
              </a:rPr>
              <a:t>SLDEM2015: </a:t>
            </a:r>
            <a:r>
              <a:rPr sz="880" b="0">
                <a:solidFill>
                  <a:srgbClr val="41546F"/>
                </a:solidFill>
                <a:latin typeface="Calibri"/>
              </a:rPr>
              <a:t>512 ppd, about 59 m/px, from imbrium.mit.edu</a:t>
            </a:r>
          </a:p>
          <a:p>
            <a:pPr>
              <a:lnSpc>
                <a:spcPct val="100000"/>
              </a:lnSpc>
              <a:spcAft>
                <a:spcPts val="360"/>
              </a:spcAft>
            </a:pPr>
            <a:r>
              <a:rPr sz="880">
                <a:solidFill>
                  <a:srgbClr val="41546F"/>
                </a:solidFill>
                <a:latin typeface="Calibri"/>
              </a:rPr>
              <a:t>•  </a:t>
            </a:r>
            <a:r>
              <a:rPr sz="880" b="1">
                <a:solidFill>
                  <a:srgbClr val="12233D"/>
                </a:solidFill>
                <a:latin typeface="Calibri"/>
              </a:rPr>
              <a:t>Kaguya TC ortho and DEM: </a:t>
            </a:r>
            <a:r>
              <a:rPr sz="880" b="0">
                <a:solidFill>
                  <a:srgbClr val="41546F"/>
                </a:solidFill>
                <a:latin typeface="Calibri"/>
              </a:rPr>
              <a:t>JAXA DARTS, the resolution-appropriate reference for IIRS</a:t>
            </a:r>
          </a:p>
          <a:p>
            <a:pPr>
              <a:lnSpc>
                <a:spcPct val="100000"/>
              </a:lnSpc>
              <a:spcAft>
                <a:spcPts val="360"/>
              </a:spcAft>
            </a:pPr>
            <a:r>
              <a:rPr sz="880">
                <a:solidFill>
                  <a:srgbClr val="41546F"/>
                </a:solidFill>
                <a:latin typeface="Calibri"/>
              </a:rPr>
              <a:t>•  </a:t>
            </a:r>
            <a:r>
              <a:rPr sz="880" b="1">
                <a:solidFill>
                  <a:srgbClr val="12233D"/>
                </a:solidFill>
                <a:latin typeface="Calibri"/>
              </a:rPr>
              <a:t>LROC WAC: </a:t>
            </a:r>
            <a:r>
              <a:rPr sz="880" b="0">
                <a:solidFill>
                  <a:srgbClr val="41546F"/>
                </a:solidFill>
                <a:latin typeface="Calibri"/>
              </a:rPr>
              <a:t>global mosaic at about 100 m</a:t>
            </a:r>
          </a:p>
        </p:txBody>
      </p:sp>
      <p:sp>
        <p:nvSpPr>
          <p:cNvPr id="17412" name="Rounded Rectangle 17411"/>
          <p:cNvSpPr/>
          <p:nvPr/>
        </p:nvSpPr>
        <p:spPr>
          <a:xfrm>
            <a:off x="6355080" y="3584448"/>
            <a:ext cx="5486400" cy="2286000"/>
          </a:xfrm>
          <a:prstGeom prst="roundRect">
            <a:avLst>
              <a:gd name="adj" fmla="val 6000"/>
            </a:avLst>
          </a:prstGeom>
          <a:solidFill>
            <a:srgbClr val="EEF6FC"/>
          </a:solidFill>
          <a:ln w="11430">
            <a:solidFill>
              <a:srgbClr val="0E7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6565392" y="3712463"/>
            <a:ext cx="5074920" cy="2057400"/>
          </a:xfrm>
          <a:prstGeom prst="rect">
            <a:avLst/>
          </a:prstGeom>
          <a:noFill/>
        </p:spPr>
        <p:txBody>
          <a:bodyPr wrap="square" anchor="t" lIns="0" rIns="0" tIns="0" bIns="0">
            <a:spAutoFit/>
          </a:bodyPr>
          <a:lstStyle/>
          <a:p>
            <a:pPr algn="l">
              <a:lnSpc>
                <a:spcPct val="100000"/>
              </a:lnSpc>
              <a:spcBef>
                <a:spcPts val="0"/>
              </a:spcBef>
              <a:spcAft>
                <a:spcPts val="500"/>
              </a:spcAft>
            </a:pPr>
            <a:r>
              <a:rPr sz="950" b="1" i="0">
                <a:solidFill>
                  <a:srgbClr val="0E7FBF"/>
                </a:solidFill>
                <a:latin typeface="Calibri"/>
              </a:rPr>
              <a:t>THE WORK ITSELF</a:t>
            </a:r>
          </a:p>
          <a:p>
            <a:pPr>
              <a:lnSpc>
                <a:spcPct val="100000"/>
              </a:lnSpc>
              <a:spcAft>
                <a:spcPts val="400"/>
              </a:spcAft>
            </a:pPr>
            <a:r>
              <a:rPr sz="960" b="0">
                <a:solidFill>
                  <a:srgbClr val="41546F"/>
                </a:solidFill>
                <a:latin typeface="Calibri"/>
              </a:rPr>
              <a:t>Live demo:  </a:t>
            </a:r>
            <a:r>
              <a:rPr sz="960" b="1">
                <a:solidFill>
                  <a:srgbClr val="0E7FBF"/>
                </a:solidFill>
                <a:latin typeface="Calibri"/>
              </a:rPr>
              <a:t>https://arya-patil686.github.io/setu-sih2026/</a:t>
            </a:r>
          </a:p>
          <a:p>
            <a:pPr>
              <a:lnSpc>
                <a:spcPct val="100000"/>
              </a:lnSpc>
              <a:spcAft>
                <a:spcPts val="700"/>
              </a:spcAft>
            </a:pPr>
            <a:r>
              <a:rPr sz="960" b="0">
                <a:solidFill>
                  <a:srgbClr val="41546F"/>
                </a:solidFill>
                <a:latin typeface="Calibri"/>
              </a:rPr>
              <a:t>Source:  </a:t>
            </a:r>
            <a:r>
              <a:rPr sz="960" b="1">
                <a:solidFill>
                  <a:srgbClr val="0E7FBF"/>
                </a:solidFill>
                <a:latin typeface="Calibri"/>
              </a:rPr>
              <a:t>https://github.com/Arya-Patil686/setu-sih2026</a:t>
            </a:r>
          </a:p>
          <a:p>
            <a:pPr algn="l">
              <a:lnSpc>
                <a:spcPct val="100000"/>
              </a:lnSpc>
              <a:spcBef>
                <a:spcPts val="0"/>
              </a:spcBef>
              <a:spcAft>
                <a:spcPts val="300"/>
              </a:spcAft>
            </a:pPr>
            <a:r>
              <a:rPr sz="900" b="0" i="0">
                <a:solidFill>
                  <a:srgbClr val="41546F"/>
                </a:solidFill>
                <a:latin typeface="Calibri"/>
              </a:rPr>
              <a:t>Reproducing every number on these slides takes two commands:</a:t>
            </a:r>
          </a:p>
          <a:p>
            <a:pPr algn="l">
              <a:lnSpc>
                <a:spcPct val="100000"/>
              </a:lnSpc>
              <a:spcBef>
                <a:spcPts val="0"/>
              </a:spcBef>
              <a:spcAft>
                <a:spcPts val="100"/>
              </a:spcAft>
            </a:pPr>
            <a:r>
              <a:rPr sz="900" b="1" i="0">
                <a:solidFill>
                  <a:srgbClr val="12233D"/>
                </a:solidFill>
                <a:latin typeface="Calibri"/>
              </a:rPr>
              <a:t>python experiments/run_sweeps.py</a:t>
            </a:r>
          </a:p>
          <a:p>
            <a:pPr algn="l">
              <a:lnSpc>
                <a:spcPct val="100000"/>
              </a:lnSpc>
              <a:spcBef>
                <a:spcPts val="0"/>
              </a:spcBef>
              <a:spcAft>
                <a:spcPts val="600"/>
              </a:spcAft>
            </a:pPr>
            <a:r>
              <a:rPr sz="900" b="1" i="0">
                <a:solidFill>
                  <a:srgbClr val="12233D"/>
                </a:solidFill>
                <a:latin typeface="Calibri"/>
              </a:rPr>
              <a:t>python scripts/build_demo_bundle.py</a:t>
            </a:r>
          </a:p>
          <a:p>
            <a:pPr algn="l">
              <a:lnSpc>
                <a:spcPct val="102000"/>
              </a:lnSpc>
              <a:spcBef>
                <a:spcPts val="0"/>
              </a:spcBef>
              <a:spcAft>
                <a:spcPts val="0"/>
              </a:spcAft>
            </a:pPr>
            <a:r>
              <a:rPr sz="840" b="0" i="1">
                <a:solidFill>
                  <a:srgbClr val="41546F"/>
                </a:solidFill>
                <a:latin typeface="Calibri"/>
              </a:rPr>
              <a:t>The benchmark's ground truth is exact by construction: both images of every pair are rendered from one terrain model under a transform that is known rather than estimated. Results here are on that benchmark. The PDS4 and PDS3 readers, the SPICE path and the sensor models are implemented and waiting on archive access, not on code.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